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3_0.xml" ContentType="application/vnd.ms-powerpoint.comments+xml"/>
  <Override PartName="/ppt/comments/modernComment_105_0.xml" ContentType="application/vnd.ms-powerpoint.comments+xml"/>
  <Override PartName="/ppt/comments/modernComment_106_0.xml" ContentType="application/vnd.ms-powerpoint.comments+xml"/>
  <Override PartName="/ppt/comments/modernComment_10D_194974D3.xml" ContentType="application/vnd.ms-powerpoint.comment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8" r:id="rId13"/>
    <p:sldId id="271" r:id="rId14"/>
    <p:sldId id="272" r:id="rId15"/>
    <p:sldId id="273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2DEDA6-B450-A921-D94F-4BDF969352EB}" name="Арсений Добротин" initials="АД" userId="ba996343be1d4fc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91" y="1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D_194974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DAE2CE-C283-4F09-952C-28583FF19FF3}" authorId="{512DEDA6-B450-A921-D94F-4BDF969352EB}" created="2025-05-18T20:14:59.063">
    <pc:sldMkLst xmlns:pc="http://schemas.microsoft.com/office/powerpoint/2013/main/command">
      <pc:docMk/>
      <pc:sldMk cId="424244435" sldId="269"/>
    </pc:sldMkLst>
    <p188:txBody>
      <a:bodyPr/>
      <a:lstStyle/>
      <a:p>
        <a:r>
          <a:rPr lang="ru-RU"/>
          <a:t>Не знаю, нужны ли эти 2 слайда - в исходной презентации Валерии они были, я поправил оформление и оставил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8A93D3-A4BC-4125-8C9A-70531DE1F6F1}" authorId="{512DEDA6-B450-A921-D94F-4BDF969352EB}" created="2025-05-18T20:13:27.644">
    <pc:sldMkLst xmlns:pc="http://schemas.microsoft.com/office/powerpoint/2013/main/command">
      <pc:docMk/>
      <pc:sldMk cId="0" sldId="259"/>
    </pc:sldMkLst>
    <p188:txBody>
      <a:bodyPr/>
      <a:lstStyle/>
      <a:p>
        <a:r>
          <a:rPr lang="ru-RU"/>
          <a:t>Переделал описание, чтобы подходило под учебно-методический проект. Нормально?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FCE2BF-8040-42BA-8123-BFAA7410E83A}" authorId="{512DEDA6-B450-A921-D94F-4BDF969352EB}" created="2025-05-18T20:14:11.024">
    <pc:sldMkLst xmlns:pc="http://schemas.microsoft.com/office/powerpoint/2013/main/command">
      <pc:docMk/>
      <pc:sldMk cId="0" sldId="261"/>
    </pc:sldMkLst>
    <p188:txBody>
      <a:bodyPr/>
      <a:lstStyle/>
      <a:p>
        <a:r>
          <a:rPr lang="ru-RU"/>
          <a:t>То же самое, что с описанием - сделал побольше про лабы, поменьше про код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5E1486-09E8-447D-8D3E-50AD35A69518}" authorId="{512DEDA6-B450-A921-D94F-4BDF969352EB}" created="2025-05-18T20:14:25.344">
    <pc:sldMkLst xmlns:pc="http://schemas.microsoft.com/office/powerpoint/2013/main/command">
      <pc:docMk/>
      <pc:sldMk cId="0" sldId="262"/>
    </pc:sldMkLst>
    <p188:txBody>
      <a:bodyPr/>
      <a:lstStyle/>
      <a:p>
        <a:r>
          <a:rPr lang="ru-RU"/>
          <a:t>То же самое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A7DCD-6182-4C27-A7F6-7A1B73B5AC64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26B0A-53A9-437A-90BB-D62977B1A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198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SE Sans" panose="020000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SE Sans" panose="020000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SE Sans" panose="020000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SE Sans" panose="020000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SE Sans" panose="020000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26B0A-53A9-437A-90BB-D62977B1AA4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29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26B0A-53A9-437A-90BB-D62977B1AA4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376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26B0A-53A9-437A-90BB-D62977B1AA4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228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397" y="464058"/>
            <a:ext cx="448056" cy="44805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299078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5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099428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5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77475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4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HSE Sans" panose="02000000000000000000" pitchFamily="50" charset="0"/>
          <a:ea typeface="+mj-ea"/>
          <a:cs typeface="+mj-cs"/>
        </a:defRPr>
      </a:lvl1pPr>
    </p:titleStyle>
    <p:bodyStyle>
      <a:lvl1pPr marL="0">
        <a:defRPr>
          <a:latin typeface="HSE Sans" panose="02000000000000000000" pitchFamily="50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0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194974D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13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8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3459" y="962405"/>
              <a:ext cx="886206" cy="8862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0284" y="985647"/>
              <a:ext cx="635" cy="840740"/>
            </a:xfrm>
            <a:custGeom>
              <a:avLst/>
              <a:gdLst/>
              <a:ahLst/>
              <a:cxnLst/>
              <a:rect l="l" t="t" r="r" b="b"/>
              <a:pathLst>
                <a:path w="635" h="840739">
                  <a:moveTo>
                    <a:pt x="0" y="0"/>
                  </a:moveTo>
                  <a:lnTo>
                    <a:pt x="355" y="840244"/>
                  </a:lnTo>
                </a:path>
              </a:pathLst>
            </a:custGeom>
            <a:ln w="12700">
              <a:solidFill>
                <a:srgbClr val="10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42984" y="985647"/>
              <a:ext cx="635" cy="840740"/>
            </a:xfrm>
            <a:custGeom>
              <a:avLst/>
              <a:gdLst/>
              <a:ahLst/>
              <a:cxnLst/>
              <a:rect l="l" t="t" r="r" b="b"/>
              <a:pathLst>
                <a:path w="634" h="840739">
                  <a:moveTo>
                    <a:pt x="0" y="0"/>
                  </a:moveTo>
                  <a:lnTo>
                    <a:pt x="355" y="840244"/>
                  </a:lnTo>
                </a:path>
              </a:pathLst>
            </a:custGeom>
            <a:ln w="12700">
              <a:solidFill>
                <a:srgbClr val="10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78920" y="985647"/>
              <a:ext cx="635" cy="840740"/>
            </a:xfrm>
            <a:custGeom>
              <a:avLst/>
              <a:gdLst/>
              <a:ahLst/>
              <a:cxnLst/>
              <a:rect l="l" t="t" r="r" b="b"/>
              <a:pathLst>
                <a:path w="634" h="840739">
                  <a:moveTo>
                    <a:pt x="0" y="0"/>
                  </a:moveTo>
                  <a:lnTo>
                    <a:pt x="355" y="840244"/>
                  </a:lnTo>
                </a:path>
              </a:pathLst>
            </a:custGeom>
            <a:ln w="12700">
              <a:solidFill>
                <a:srgbClr val="10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15098" y="2360095"/>
            <a:ext cx="8128901" cy="18133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№1963.</a:t>
            </a:r>
            <a:r>
              <a:rPr sz="3900" spc="-1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39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Мастерская</a:t>
            </a:r>
            <a:r>
              <a:rPr sz="3900" spc="-1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39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YADRO: </a:t>
            </a:r>
            <a:r>
              <a:rPr sz="39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sz="39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39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sz="39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sz="39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39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sz="39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39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sz="39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39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en-US" sz="39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sz="39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0939" y="1162346"/>
            <a:ext cx="178796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МИЭМ</a:t>
            </a:r>
            <a:r>
              <a:rPr sz="1600" spc="-4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6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НИУ</a:t>
            </a:r>
            <a:r>
              <a:rPr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600" spc="-2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ВШЭ</a:t>
            </a:r>
            <a:endParaRPr sz="16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5220" y="1151354"/>
            <a:ext cx="763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№1963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2773" y="1151354"/>
            <a:ext cx="597155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Москва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,</a:t>
            </a:r>
            <a:endParaRPr lang="ru-RU" sz="1200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2025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3633" y="4410885"/>
            <a:ext cx="2835910" cy="748282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2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Руководитель</a:t>
            </a:r>
            <a:r>
              <a:rPr sz="1200" b="1" spc="-1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направления:</a:t>
            </a:r>
            <a:endParaRPr sz="1200" dirty="0">
              <a:latin typeface="HSE Sans" panose="02000000000000000000" pitchFamily="50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к.т.н.,</a:t>
            </a:r>
            <a:r>
              <a:rPr sz="12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доцент</a:t>
            </a:r>
            <a:r>
              <a:rPr sz="1200" spc="-1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Романов Александр</a:t>
            </a:r>
            <a:r>
              <a:rPr sz="12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Юрьевич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3633" y="5196440"/>
            <a:ext cx="203296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Руководитель</a:t>
            </a:r>
            <a:r>
              <a:rPr sz="1200" b="1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проекта: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3633" y="5431203"/>
            <a:ext cx="25203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к.т.н.,</a:t>
            </a:r>
            <a:r>
              <a:rPr sz="12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Мещеряков</a:t>
            </a:r>
            <a:r>
              <a:rPr sz="12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Ярослав</a:t>
            </a:r>
            <a:r>
              <a:rPr sz="12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Евгеньевич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7142" y="4407251"/>
            <a:ext cx="3451225" cy="129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9"/>
              </a:lnSpc>
              <a:spcBef>
                <a:spcPts val="100"/>
              </a:spcBef>
            </a:pPr>
            <a:r>
              <a:rPr sz="12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Команда</a:t>
            </a:r>
            <a:r>
              <a:rPr sz="1200" b="1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проекта:</a:t>
            </a:r>
            <a:endParaRPr sz="1200" dirty="0">
              <a:latin typeface="HSE Sans" panose="02000000000000000000" pitchFamily="50" charset="0"/>
              <a:cs typeface="Calibri"/>
            </a:endParaRPr>
          </a:p>
          <a:p>
            <a:pPr marL="12700" marR="5080">
              <a:lnSpc>
                <a:spcPts val="1680"/>
              </a:lnSpc>
              <a:spcBef>
                <a:spcPts val="45"/>
              </a:spcBef>
            </a:pP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Добротин</a:t>
            </a:r>
            <a:r>
              <a:rPr sz="12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Арсений</a:t>
            </a:r>
            <a:r>
              <a:rPr sz="1200" spc="-1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Александрович</a:t>
            </a:r>
            <a:r>
              <a:rPr sz="1200" spc="-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(МИВ241) </a:t>
            </a:r>
            <a:r>
              <a:rPr sz="12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Тарало</a:t>
            </a:r>
            <a:r>
              <a:rPr sz="12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Антон</a:t>
            </a:r>
            <a:r>
              <a:rPr sz="12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Александрович</a:t>
            </a:r>
            <a:r>
              <a:rPr sz="1200" spc="-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(МИВ241)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Карамнов</a:t>
            </a:r>
            <a:r>
              <a:rPr sz="1200" spc="-7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Максим</a:t>
            </a:r>
            <a:r>
              <a:rPr sz="1200" spc="-7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Игоревич</a:t>
            </a:r>
            <a:r>
              <a:rPr sz="1200" spc="-6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(БИБ212)</a:t>
            </a:r>
            <a:endParaRPr sz="1200" dirty="0">
              <a:latin typeface="HSE Sans" panose="02000000000000000000" pitchFamily="50" charset="0"/>
              <a:cs typeface="Calibri"/>
            </a:endParaRPr>
          </a:p>
          <a:p>
            <a:pPr marL="12700">
              <a:lnSpc>
                <a:spcPts val="1625"/>
              </a:lnSpc>
            </a:pPr>
            <a:r>
              <a:rPr sz="12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Тен </a:t>
            </a:r>
            <a:r>
              <a:rPr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Владимир</a:t>
            </a:r>
            <a:r>
              <a:rPr sz="12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Робертович</a:t>
            </a:r>
            <a:r>
              <a:rPr sz="12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(БИБ221)</a:t>
            </a:r>
            <a:endParaRPr lang="ru-RU" sz="1200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12700">
              <a:lnSpc>
                <a:spcPts val="1625"/>
              </a:lnSpc>
            </a:pPr>
            <a:r>
              <a:rPr lang="ru-RU" sz="1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Доманова Валерия Сергеевна (МБКС231)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2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16371" y="458088"/>
            <a:ext cx="6224270" cy="5523865"/>
            <a:chOff x="5516371" y="458088"/>
            <a:chExt cx="6224270" cy="5523865"/>
          </a:xfrm>
        </p:grpSpPr>
        <p:sp>
          <p:nvSpPr>
            <p:cNvPr id="4" name="object 4"/>
            <p:cNvSpPr/>
            <p:nvPr/>
          </p:nvSpPr>
          <p:spPr>
            <a:xfrm>
              <a:off x="11644502" y="464438"/>
              <a:ext cx="635" cy="587375"/>
            </a:xfrm>
            <a:custGeom>
              <a:avLst/>
              <a:gdLst/>
              <a:ahLst/>
              <a:cxnLst/>
              <a:rect l="l" t="t" r="r" b="b"/>
              <a:pathLst>
                <a:path w="634" h="587375">
                  <a:moveTo>
                    <a:pt x="0" y="0"/>
                  </a:moveTo>
                  <a:lnTo>
                    <a:pt x="355" y="586803"/>
                  </a:lnTo>
                </a:path>
              </a:pathLst>
            </a:custGeom>
            <a:ln w="12700">
              <a:solidFill>
                <a:srgbClr val="10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9072" y="1836419"/>
              <a:ext cx="6198869" cy="41323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22721" y="1830069"/>
              <a:ext cx="6211570" cy="4145279"/>
            </a:xfrm>
            <a:custGeom>
              <a:avLst/>
              <a:gdLst/>
              <a:ahLst/>
              <a:cxnLst/>
              <a:rect l="l" t="t" r="r" b="b"/>
              <a:pathLst>
                <a:path w="6211570" h="4145279">
                  <a:moveTo>
                    <a:pt x="0" y="0"/>
                  </a:moveTo>
                  <a:lnTo>
                    <a:pt x="6211570" y="0"/>
                  </a:lnTo>
                  <a:lnTo>
                    <a:pt x="6211570" y="4145026"/>
                  </a:lnTo>
                  <a:lnTo>
                    <a:pt x="0" y="414502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3020" y="1415408"/>
            <a:ext cx="4521200" cy="3072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Заказчик</a:t>
            </a:r>
            <a:endParaRPr sz="2400" dirty="0">
              <a:latin typeface="HSE Sans" panose="02000000000000000000" pitchFamily="50" charset="0"/>
              <a:cs typeface="Calibri"/>
            </a:endParaRPr>
          </a:p>
          <a:p>
            <a:pPr marL="297815" marR="147320" indent="-285750">
              <a:lnSpc>
                <a:spcPct val="100000"/>
              </a:lnSpc>
              <a:spcBef>
                <a:spcPts val="274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Департамент</a:t>
            </a:r>
            <a:r>
              <a:rPr sz="1800" b="1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компьютерной</a:t>
            </a:r>
            <a:r>
              <a:rPr sz="1800" b="1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инженерии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Для</a:t>
            </a:r>
            <a:r>
              <a:rPr sz="1800" spc="-7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дисциплины</a:t>
            </a:r>
            <a:r>
              <a:rPr sz="18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«Системное проектирование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цифровых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устройств»</a:t>
            </a:r>
            <a:endParaRPr sz="1800" dirty="0">
              <a:latin typeface="HSE Sans" panose="02000000000000000000" pitchFamily="50" charset="0"/>
              <a:cs typeface="Calibri"/>
            </a:endParaRPr>
          </a:p>
          <a:p>
            <a:pPr marL="297815" marR="5080" indent="-28575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Департамент</a:t>
            </a:r>
            <a:r>
              <a:rPr sz="1800" b="1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электронной</a:t>
            </a:r>
            <a:r>
              <a:rPr sz="1800" b="1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инженерии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Для</a:t>
            </a:r>
            <a:r>
              <a:rPr sz="1800" spc="-7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дисциплин</a:t>
            </a:r>
            <a:r>
              <a:rPr sz="1800" spc="-7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«Цифровая</a:t>
            </a:r>
            <a:r>
              <a:rPr sz="1800" spc="-7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схемотехника</a:t>
            </a:r>
            <a:r>
              <a:rPr sz="1800" spc="-6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системная</a:t>
            </a:r>
            <a:r>
              <a:rPr sz="18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архитектура»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«Системное программирование»</a:t>
            </a:r>
            <a:endParaRPr sz="18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2" name="Google Shape;190;p3">
            <a:extLst>
              <a:ext uri="{FF2B5EF4-FFF2-40B4-BE49-F238E27FC236}">
                <a16:creationId xmlns:a16="http://schemas.microsoft.com/office/drawing/2014/main" id="{D28A782D-7077-5B4D-F38D-940A0C51E055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3" name="Google Shape;191;p3">
            <a:extLst>
              <a:ext uri="{FF2B5EF4-FFF2-40B4-BE49-F238E27FC236}">
                <a16:creationId xmlns:a16="http://schemas.microsoft.com/office/drawing/2014/main" id="{77CBF69F-28A9-B329-2A32-711E59FEFB24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4" name="Google Shape;193;p3">
            <a:extLst>
              <a:ext uri="{FF2B5EF4-FFF2-40B4-BE49-F238E27FC236}">
                <a16:creationId xmlns:a16="http://schemas.microsoft.com/office/drawing/2014/main" id="{FD7F2D55-BA5A-62AF-FB99-84A11914DE18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3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2906370"/>
            <a:ext cx="7151289" cy="1778710"/>
            <a:chOff x="648969" y="1927605"/>
            <a:chExt cx="10960482" cy="2860676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19" y="1937766"/>
              <a:ext cx="1962150" cy="27835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8969" y="1931416"/>
              <a:ext cx="1974850" cy="2796540"/>
            </a:xfrm>
            <a:custGeom>
              <a:avLst/>
              <a:gdLst/>
              <a:ahLst/>
              <a:cxnLst/>
              <a:rect l="l" t="t" r="r" b="b"/>
              <a:pathLst>
                <a:path w="1974850" h="2796540">
                  <a:moveTo>
                    <a:pt x="0" y="0"/>
                  </a:moveTo>
                  <a:lnTo>
                    <a:pt x="1974850" y="0"/>
                  </a:lnTo>
                  <a:lnTo>
                    <a:pt x="1974850" y="2796286"/>
                  </a:lnTo>
                  <a:lnTo>
                    <a:pt x="0" y="279628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8246" y="1937766"/>
              <a:ext cx="2014727" cy="28407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581896" y="1931416"/>
              <a:ext cx="2027555" cy="2856865"/>
            </a:xfrm>
            <a:custGeom>
              <a:avLst/>
              <a:gdLst/>
              <a:ahLst/>
              <a:cxnLst/>
              <a:rect l="l" t="t" r="r" b="b"/>
              <a:pathLst>
                <a:path w="2027554" h="2856865">
                  <a:moveTo>
                    <a:pt x="0" y="0"/>
                  </a:moveTo>
                  <a:lnTo>
                    <a:pt x="2027427" y="0"/>
                  </a:lnTo>
                  <a:lnTo>
                    <a:pt x="2027427" y="2856484"/>
                  </a:lnTo>
                  <a:lnTo>
                    <a:pt x="0" y="28564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03319" y="1937766"/>
              <a:ext cx="1852421" cy="2779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96969" y="1931416"/>
              <a:ext cx="1865630" cy="2792730"/>
            </a:xfrm>
            <a:custGeom>
              <a:avLst/>
              <a:gdLst/>
              <a:ahLst/>
              <a:cxnLst/>
              <a:rect l="l" t="t" r="r" b="b"/>
              <a:pathLst>
                <a:path w="1865629" h="2792729">
                  <a:moveTo>
                    <a:pt x="0" y="0"/>
                  </a:moveTo>
                  <a:lnTo>
                    <a:pt x="1865122" y="0"/>
                  </a:lnTo>
                  <a:lnTo>
                    <a:pt x="1865122" y="2792476"/>
                  </a:lnTo>
                  <a:lnTo>
                    <a:pt x="0" y="279247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46748" y="1933956"/>
              <a:ext cx="1853183" cy="28445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40398" y="1927605"/>
              <a:ext cx="1866264" cy="2857500"/>
            </a:xfrm>
            <a:custGeom>
              <a:avLst/>
              <a:gdLst/>
              <a:ahLst/>
              <a:cxnLst/>
              <a:rect l="l" t="t" r="r" b="b"/>
              <a:pathLst>
                <a:path w="1866265" h="2857500">
                  <a:moveTo>
                    <a:pt x="0" y="0"/>
                  </a:moveTo>
                  <a:lnTo>
                    <a:pt x="1865883" y="0"/>
                  </a:lnTo>
                  <a:lnTo>
                    <a:pt x="1865883" y="2857246"/>
                  </a:lnTo>
                  <a:lnTo>
                    <a:pt x="0" y="285724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16129" y="1678966"/>
            <a:ext cx="37342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Участники</a:t>
            </a:r>
            <a:r>
              <a:rPr sz="3200" b="1" spc="-6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32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проекта</a:t>
            </a:r>
            <a:endParaRPr sz="3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6043" y="4722937"/>
            <a:ext cx="1692967" cy="90505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sz="15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Добротин</a:t>
            </a:r>
            <a:r>
              <a:rPr sz="1500" b="1" spc="-1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5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Арсений</a:t>
            </a:r>
            <a:endParaRPr sz="1500" dirty="0">
              <a:latin typeface="HSE Sans" panose="02000000000000000000" pitchFamily="50" charset="0"/>
              <a:cs typeface="Calibri"/>
            </a:endParaRPr>
          </a:p>
          <a:p>
            <a:pPr marL="295910" marR="289560" algn="ctr">
              <a:lnSpc>
                <a:spcPct val="100600"/>
              </a:lnSpc>
              <a:spcBef>
                <a:spcPts val="765"/>
              </a:spcBef>
            </a:pPr>
            <a:r>
              <a:rPr sz="15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Инженер</a:t>
            </a:r>
            <a:r>
              <a:rPr sz="1500" spc="-8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500" spc="-2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по </a:t>
            </a:r>
            <a:r>
              <a:rPr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endParaRPr sz="15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00835" y="4722937"/>
            <a:ext cx="1611852" cy="905056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89535" indent="-77470" algn="ctr">
              <a:lnSpc>
                <a:spcPct val="100000"/>
              </a:lnSpc>
              <a:spcBef>
                <a:spcPts val="880"/>
              </a:spcBef>
            </a:pPr>
            <a:r>
              <a:rPr sz="15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Тарало</a:t>
            </a:r>
            <a:r>
              <a:rPr sz="1500" b="1" spc="-9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500" b="1" spc="-2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Антон</a:t>
            </a:r>
            <a:endParaRPr sz="1500" dirty="0">
              <a:latin typeface="HSE Sans" panose="02000000000000000000" pitchFamily="50" charset="0"/>
              <a:cs typeface="Calibri"/>
            </a:endParaRPr>
          </a:p>
          <a:p>
            <a:pPr marL="24130" marR="15875" indent="65405" algn="ctr">
              <a:lnSpc>
                <a:spcPct val="100600"/>
              </a:lnSpc>
              <a:spcBef>
                <a:spcPts val="765"/>
              </a:spcBef>
            </a:pPr>
            <a:r>
              <a:rPr sz="15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Инженер</a:t>
            </a:r>
            <a:r>
              <a:rPr sz="1500" spc="-8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500" spc="-2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по </a:t>
            </a:r>
            <a:r>
              <a:rPr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endParaRPr sz="15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50389" y="4719551"/>
            <a:ext cx="1884680" cy="90697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15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Карамнов</a:t>
            </a:r>
            <a:r>
              <a:rPr sz="1500" b="1" spc="-6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5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Максим</a:t>
            </a:r>
            <a:endParaRPr sz="1500" dirty="0">
              <a:latin typeface="HSE Sans" panose="02000000000000000000" pitchFamily="50" charset="0"/>
              <a:cs typeface="Calibri"/>
            </a:endParaRPr>
          </a:p>
          <a:p>
            <a:pPr marL="298450" marR="290195" indent="-1905" algn="ctr">
              <a:lnSpc>
                <a:spcPct val="100600"/>
              </a:lnSpc>
              <a:spcBef>
                <a:spcPts val="780"/>
              </a:spcBef>
            </a:pPr>
            <a:r>
              <a:rPr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Системный программист</a:t>
            </a:r>
            <a:endParaRPr sz="1500" dirty="0">
              <a:latin typeface="HSE Sans" panose="02000000000000000000" pitchFamily="50" charset="0"/>
              <a:cs typeface="Calibri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287909B-555E-0D46-5419-56EDBF89850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902" y="2906369"/>
            <a:ext cx="1332918" cy="1776339"/>
          </a:xfrm>
          <a:prstGeom prst="rect">
            <a:avLst/>
          </a:prstGeom>
          <a:ln>
            <a:solidFill>
              <a:srgbClr val="0F2C68"/>
            </a:solidFill>
          </a:ln>
        </p:spPr>
      </p:pic>
      <p:sp>
        <p:nvSpPr>
          <p:cNvPr id="31" name="object 21">
            <a:extLst>
              <a:ext uri="{FF2B5EF4-FFF2-40B4-BE49-F238E27FC236}">
                <a16:creationId xmlns:a16="http://schemas.microsoft.com/office/drawing/2014/main" id="{4B2B9AC9-DC62-00B0-AA2E-46677C04D90C}"/>
              </a:ext>
            </a:extLst>
          </p:cNvPr>
          <p:cNvSpPr txBox="1"/>
          <p:nvPr/>
        </p:nvSpPr>
        <p:spPr>
          <a:xfrm>
            <a:off x="8286448" y="4741322"/>
            <a:ext cx="1446530" cy="6719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75895" indent="-163830" algn="ctr">
              <a:lnSpc>
                <a:spcPct val="100000"/>
              </a:lnSpc>
              <a:spcBef>
                <a:spcPts val="880"/>
              </a:spcBef>
            </a:pPr>
            <a:r>
              <a:rPr lang="ru-RU" sz="1500" b="1" spc="-4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Власов Иван</a:t>
            </a:r>
            <a:endParaRPr sz="1500" dirty="0">
              <a:latin typeface="HSE Sans" panose="02000000000000000000" pitchFamily="50" charset="0"/>
              <a:cs typeface="Calibri"/>
            </a:endParaRPr>
          </a:p>
          <a:p>
            <a:pPr marL="78740" marR="71120" indent="96520" algn="ctr">
              <a:lnSpc>
                <a:spcPct val="100600"/>
              </a:lnSpc>
              <a:spcBef>
                <a:spcPts val="765"/>
              </a:spcBef>
            </a:pPr>
            <a:r>
              <a:rPr lang="ru-RU"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Методист</a:t>
            </a:r>
            <a:endParaRPr sz="15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2" name="Google Shape;190;p3">
            <a:extLst>
              <a:ext uri="{FF2B5EF4-FFF2-40B4-BE49-F238E27FC236}">
                <a16:creationId xmlns:a16="http://schemas.microsoft.com/office/drawing/2014/main" id="{C8382586-239F-850C-5CAE-FE6B72C917E2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33" name="Google Shape;191;p3">
            <a:extLst>
              <a:ext uri="{FF2B5EF4-FFF2-40B4-BE49-F238E27FC236}">
                <a16:creationId xmlns:a16="http://schemas.microsoft.com/office/drawing/2014/main" id="{213C0E52-D760-E33C-711C-B0F7991D20FE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34" name="Google Shape;193;p3">
            <a:extLst>
              <a:ext uri="{FF2B5EF4-FFF2-40B4-BE49-F238E27FC236}">
                <a16:creationId xmlns:a16="http://schemas.microsoft.com/office/drawing/2014/main" id="{27919528-17BC-A218-6013-00D1861062BC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pic>
        <p:nvPicPr>
          <p:cNvPr id="15" name="Рисунок 14" descr="Изображение выглядит как Человеческое лицо, человек, одежда, Подбородок&#10;&#10;Автоматически созданное описание">
            <a:extLst>
              <a:ext uri="{FF2B5EF4-FFF2-40B4-BE49-F238E27FC236}">
                <a16:creationId xmlns:a16="http://schemas.microsoft.com/office/drawing/2014/main" id="{86EEB0E2-593B-4748-8812-FAFF679E3ED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8" r="16299"/>
          <a:stretch/>
        </p:blipFill>
        <p:spPr>
          <a:xfrm>
            <a:off x="8343945" y="2906370"/>
            <a:ext cx="1322901" cy="1776340"/>
          </a:xfrm>
          <a:prstGeom prst="rect">
            <a:avLst/>
          </a:prstGeom>
          <a:ln>
            <a:solidFill>
              <a:srgbClr val="0F2C68"/>
            </a:solidFill>
          </a:ln>
        </p:spPr>
      </p:pic>
      <p:sp>
        <p:nvSpPr>
          <p:cNvPr id="16" name="object 20">
            <a:extLst>
              <a:ext uri="{FF2B5EF4-FFF2-40B4-BE49-F238E27FC236}">
                <a16:creationId xmlns:a16="http://schemas.microsoft.com/office/drawing/2014/main" id="{C8130F9A-87A3-198E-7BF2-F901331899D3}"/>
              </a:ext>
            </a:extLst>
          </p:cNvPr>
          <p:cNvSpPr txBox="1"/>
          <p:nvPr/>
        </p:nvSpPr>
        <p:spPr>
          <a:xfrm>
            <a:off x="6157056" y="4719551"/>
            <a:ext cx="1884680" cy="90697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75895" indent="-163830" algn="ctr">
              <a:lnSpc>
                <a:spcPct val="100000"/>
              </a:lnSpc>
              <a:spcBef>
                <a:spcPts val="880"/>
              </a:spcBef>
            </a:pPr>
            <a:r>
              <a:rPr lang="ru-RU" sz="1500" b="1" spc="-4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Тен</a:t>
            </a:r>
            <a:r>
              <a:rPr lang="ru-RU" sz="1500" b="1" spc="-5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5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Владимир</a:t>
            </a:r>
            <a:endParaRPr lang="ru-RU" sz="1500" dirty="0">
              <a:latin typeface="HSE Sans" panose="02000000000000000000" pitchFamily="50" charset="0"/>
              <a:cs typeface="Calibri"/>
            </a:endParaRPr>
          </a:p>
          <a:p>
            <a:pPr marL="298450" marR="290195" indent="-1905" algn="ctr">
              <a:lnSpc>
                <a:spcPct val="100600"/>
              </a:lnSpc>
              <a:spcBef>
                <a:spcPts val="780"/>
              </a:spcBef>
            </a:pPr>
            <a:r>
              <a:rPr sz="1500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Системный</a:t>
            </a:r>
            <a:r>
              <a:rPr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программист</a:t>
            </a:r>
            <a:endParaRPr sz="15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F76237D3-73FF-C945-1D9E-4696D0B84796}"/>
              </a:ext>
            </a:extLst>
          </p:cNvPr>
          <p:cNvSpPr txBox="1"/>
          <p:nvPr/>
        </p:nvSpPr>
        <p:spPr>
          <a:xfrm>
            <a:off x="10064864" y="4741322"/>
            <a:ext cx="1702994" cy="6744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75895" indent="-163830" algn="ctr">
              <a:lnSpc>
                <a:spcPct val="100000"/>
              </a:lnSpc>
              <a:spcBef>
                <a:spcPts val="880"/>
              </a:spcBef>
            </a:pPr>
            <a:r>
              <a:rPr lang="ru-RU" sz="1500" b="1" spc="-4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Доманова Валерия</a:t>
            </a:r>
          </a:p>
          <a:p>
            <a:pPr marL="78740" marR="71120" indent="96520" algn="ctr">
              <a:lnSpc>
                <a:spcPct val="100600"/>
              </a:lnSpc>
              <a:spcBef>
                <a:spcPts val="765"/>
              </a:spcBef>
            </a:pPr>
            <a:r>
              <a:rPr lang="ru-RU"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Методист</a:t>
            </a:r>
            <a:endParaRPr sz="1500" dirty="0"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4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4503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4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9637" y="2133600"/>
            <a:ext cx="9610725" cy="2921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>
              <a:lnSpc>
                <a:spcPct val="100000"/>
              </a:lnSpc>
              <a:spcBef>
                <a:spcPts val="2745"/>
              </a:spcBef>
            </a:pPr>
            <a:r>
              <a:rPr lang="ru-RU"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 </a:t>
            </a: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</a:t>
            </a:r>
            <a:r>
              <a:rPr lang="ru-RU"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амках проекта планировалось </a:t>
            </a: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разработать лабораторный практикум по</a:t>
            </a:r>
            <a:r>
              <a:rPr lang="ru-RU"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</a:t>
            </a: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lang="ru-RU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открытого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процессорного</a:t>
            </a:r>
            <a:r>
              <a:rPr sz="18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ядра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 </a:t>
            </a:r>
            <a:r>
              <a:rPr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архитектурой</a:t>
            </a:r>
            <a:r>
              <a:rPr sz="18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sz="1800" spc="-8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r>
              <a:rPr lang="ru-RU" sz="1800" spc="-8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</a:t>
            </a:r>
            <a:r>
              <a:rPr sz="1800" spc="-1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применением </a:t>
            </a:r>
            <a:r>
              <a:rPr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современных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методов и технологий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.</a:t>
            </a:r>
            <a:r>
              <a:rPr lang="ru-RU"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Лабораторный практикум состоит из:</a:t>
            </a:r>
            <a:endParaRPr lang="ru-RU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641350" marR="5080" indent="-342900">
              <a:lnSpc>
                <a:spcPct val="100000"/>
              </a:lnSpc>
              <a:spcBef>
                <a:spcPts val="2745"/>
              </a:spcBef>
              <a:buFont typeface="+mj-lt"/>
              <a:buAutoNum type="arabicPeriod"/>
            </a:pPr>
            <a:r>
              <a:rPr lang="ru-RU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Методических материалов (теория к лабораторным работам, указания к выполнению, описание используемого ПО и разработанных программных моделей);</a:t>
            </a:r>
          </a:p>
          <a:p>
            <a:pPr marL="641350" marR="5080" indent="-342900">
              <a:lnSpc>
                <a:spcPct val="100000"/>
              </a:lnSpc>
              <a:spcBef>
                <a:spcPts val="2745"/>
              </a:spcBef>
              <a:buFont typeface="+mj-lt"/>
              <a:buAutoNum type="arabicPeriod"/>
            </a:pPr>
            <a:r>
              <a:rPr lang="ru-RU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Кодовой базы</a:t>
            </a:r>
            <a:r>
              <a:rPr lang="en-US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– RTL</a:t>
            </a:r>
            <a:r>
              <a:rPr lang="ru-RU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модели цифровых блоков, используемых в основе лабораторных работ; верификационное окружение и тестовые прошивки для </a:t>
            </a:r>
            <a:r>
              <a:rPr lang="en-US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моделей</a:t>
            </a:r>
            <a:r>
              <a:rPr lang="en-US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; </a:t>
            </a:r>
            <a:r>
              <a:rPr lang="ru-RU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скрипты запуска верификационных сценариев.</a:t>
            </a:r>
          </a:p>
        </p:txBody>
      </p:sp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327BFB56-EE90-0EDF-A104-F505F6F56FCF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0" name="Google Shape;191;p3">
            <a:extLst>
              <a:ext uri="{FF2B5EF4-FFF2-40B4-BE49-F238E27FC236}">
                <a16:creationId xmlns:a16="http://schemas.microsoft.com/office/drawing/2014/main" id="{03D42695-928B-3F3E-8880-556448649F71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1" name="Google Shape;193;p3">
            <a:extLst>
              <a:ext uri="{FF2B5EF4-FFF2-40B4-BE49-F238E27FC236}">
                <a16:creationId xmlns:a16="http://schemas.microsoft.com/office/drawing/2014/main" id="{3271DFB5-FEF5-1A87-7467-C0DAA67559BB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50C9AE7-640C-90E1-157F-72B74EB4457F}"/>
              </a:ext>
            </a:extLst>
          </p:cNvPr>
          <p:cNvSpPr txBox="1"/>
          <p:nvPr/>
        </p:nvSpPr>
        <p:spPr>
          <a:xfrm>
            <a:off x="471541" y="1219200"/>
            <a:ext cx="524345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Описание</a:t>
            </a:r>
            <a:r>
              <a:rPr lang="ru-RU" sz="2400" b="1" spc="-114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проекта</a:t>
            </a:r>
            <a:endParaRPr lang="ru-RU" sz="2400" dirty="0"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5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50651" y="458088"/>
            <a:ext cx="4401185" cy="4726940"/>
            <a:chOff x="7250651" y="458088"/>
            <a:chExt cx="4401185" cy="4726940"/>
          </a:xfrm>
        </p:grpSpPr>
        <p:sp>
          <p:nvSpPr>
            <p:cNvPr id="4" name="object 4"/>
            <p:cNvSpPr/>
            <p:nvPr/>
          </p:nvSpPr>
          <p:spPr>
            <a:xfrm>
              <a:off x="11644503" y="464438"/>
              <a:ext cx="635" cy="587375"/>
            </a:xfrm>
            <a:custGeom>
              <a:avLst/>
              <a:gdLst/>
              <a:ahLst/>
              <a:cxnLst/>
              <a:rect l="l" t="t" r="r" b="b"/>
              <a:pathLst>
                <a:path w="634" h="587375">
                  <a:moveTo>
                    <a:pt x="0" y="0"/>
                  </a:moveTo>
                  <a:lnTo>
                    <a:pt x="355" y="586803"/>
                  </a:lnTo>
                </a:path>
              </a:pathLst>
            </a:custGeom>
            <a:ln w="12700">
              <a:solidFill>
                <a:srgbClr val="10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89784" y="1925323"/>
              <a:ext cx="1695450" cy="2185035"/>
            </a:xfrm>
            <a:custGeom>
              <a:avLst/>
              <a:gdLst/>
              <a:ahLst/>
              <a:cxnLst/>
              <a:rect l="l" t="t" r="r" b="b"/>
              <a:pathLst>
                <a:path w="1695450" h="2185035">
                  <a:moveTo>
                    <a:pt x="588758" y="2184963"/>
                  </a:moveTo>
                  <a:lnTo>
                    <a:pt x="6533" y="1500120"/>
                  </a:lnTo>
                  <a:lnTo>
                    <a:pt x="59301" y="1489426"/>
                  </a:lnTo>
                  <a:lnTo>
                    <a:pt x="109800" y="1475994"/>
                  </a:lnTo>
                  <a:lnTo>
                    <a:pt x="158024" y="1459938"/>
                  </a:lnTo>
                  <a:lnTo>
                    <a:pt x="203965" y="1441372"/>
                  </a:lnTo>
                  <a:lnTo>
                    <a:pt x="247616" y="1420409"/>
                  </a:lnTo>
                  <a:lnTo>
                    <a:pt x="288970" y="1397164"/>
                  </a:lnTo>
                  <a:lnTo>
                    <a:pt x="328019" y="1371751"/>
                  </a:lnTo>
                  <a:lnTo>
                    <a:pt x="364758" y="1344282"/>
                  </a:lnTo>
                  <a:lnTo>
                    <a:pt x="399178" y="1314872"/>
                  </a:lnTo>
                  <a:lnTo>
                    <a:pt x="431272" y="1283634"/>
                  </a:lnTo>
                  <a:lnTo>
                    <a:pt x="461034" y="1250683"/>
                  </a:lnTo>
                  <a:lnTo>
                    <a:pt x="488456" y="1216132"/>
                  </a:lnTo>
                  <a:lnTo>
                    <a:pt x="513530" y="1180095"/>
                  </a:lnTo>
                  <a:lnTo>
                    <a:pt x="536251" y="1142686"/>
                  </a:lnTo>
                  <a:lnTo>
                    <a:pt x="556610" y="1104018"/>
                  </a:lnTo>
                  <a:lnTo>
                    <a:pt x="574601" y="1064205"/>
                  </a:lnTo>
                  <a:lnTo>
                    <a:pt x="590216" y="1023361"/>
                  </a:lnTo>
                  <a:lnTo>
                    <a:pt x="603449" y="981600"/>
                  </a:lnTo>
                  <a:lnTo>
                    <a:pt x="614291" y="939035"/>
                  </a:lnTo>
                  <a:lnTo>
                    <a:pt x="622737" y="895780"/>
                  </a:lnTo>
                  <a:lnTo>
                    <a:pt x="628778" y="851950"/>
                  </a:lnTo>
                  <a:lnTo>
                    <a:pt x="632408" y="807657"/>
                  </a:lnTo>
                  <a:lnTo>
                    <a:pt x="633620" y="763016"/>
                  </a:lnTo>
                  <a:lnTo>
                    <a:pt x="632408" y="717467"/>
                  </a:lnTo>
                  <a:lnTo>
                    <a:pt x="628774" y="672134"/>
                  </a:lnTo>
                  <a:lnTo>
                    <a:pt x="622722" y="627149"/>
                  </a:lnTo>
                  <a:lnTo>
                    <a:pt x="614257" y="582640"/>
                  </a:lnTo>
                  <a:lnTo>
                    <a:pt x="603382" y="538738"/>
                  </a:lnTo>
                  <a:lnTo>
                    <a:pt x="590100" y="495572"/>
                  </a:lnTo>
                  <a:lnTo>
                    <a:pt x="574417" y="453271"/>
                  </a:lnTo>
                  <a:lnTo>
                    <a:pt x="556335" y="411966"/>
                  </a:lnTo>
                  <a:lnTo>
                    <a:pt x="535860" y="371786"/>
                  </a:lnTo>
                  <a:lnTo>
                    <a:pt x="512993" y="332860"/>
                  </a:lnTo>
                  <a:lnTo>
                    <a:pt x="487741" y="295319"/>
                  </a:lnTo>
                  <a:lnTo>
                    <a:pt x="460106" y="259291"/>
                  </a:lnTo>
                  <a:lnTo>
                    <a:pt x="430093" y="224908"/>
                  </a:lnTo>
                  <a:lnTo>
                    <a:pt x="397704" y="192297"/>
                  </a:lnTo>
                  <a:lnTo>
                    <a:pt x="362946" y="161590"/>
                  </a:lnTo>
                  <a:lnTo>
                    <a:pt x="325820" y="132915"/>
                  </a:lnTo>
                  <a:lnTo>
                    <a:pt x="286331" y="106403"/>
                  </a:lnTo>
                  <a:lnTo>
                    <a:pt x="244484" y="82183"/>
                  </a:lnTo>
                  <a:lnTo>
                    <a:pt x="200281" y="60384"/>
                  </a:lnTo>
                  <a:lnTo>
                    <a:pt x="153728" y="41137"/>
                  </a:lnTo>
                  <a:lnTo>
                    <a:pt x="104827" y="24571"/>
                  </a:lnTo>
                  <a:lnTo>
                    <a:pt x="53583" y="10815"/>
                  </a:lnTo>
                  <a:lnTo>
                    <a:pt x="0" y="0"/>
                  </a:lnTo>
                  <a:lnTo>
                    <a:pt x="1695171" y="0"/>
                  </a:lnTo>
                  <a:lnTo>
                    <a:pt x="1695171" y="626483"/>
                  </a:lnTo>
                  <a:lnTo>
                    <a:pt x="647013" y="2107224"/>
                  </a:lnTo>
                  <a:lnTo>
                    <a:pt x="588758" y="2184963"/>
                  </a:lnTo>
                  <a:close/>
                </a:path>
              </a:pathLst>
            </a:custGeom>
            <a:solidFill>
              <a:srgbClr val="E3B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50646" y="2270251"/>
              <a:ext cx="3234055" cy="2914650"/>
            </a:xfrm>
            <a:custGeom>
              <a:avLst/>
              <a:gdLst/>
              <a:ahLst/>
              <a:cxnLst/>
              <a:rect l="l" t="t" r="r" b="b"/>
              <a:pathLst>
                <a:path w="3234054" h="2914650">
                  <a:moveTo>
                    <a:pt x="865441" y="2480462"/>
                  </a:moveTo>
                  <a:lnTo>
                    <a:pt x="864082" y="2462263"/>
                  </a:lnTo>
                  <a:lnTo>
                    <a:pt x="860933" y="2444331"/>
                  </a:lnTo>
                  <a:lnTo>
                    <a:pt x="858697" y="2436368"/>
                  </a:lnTo>
                  <a:lnTo>
                    <a:pt x="856018" y="2426805"/>
                  </a:lnTo>
                  <a:lnTo>
                    <a:pt x="831227" y="2378252"/>
                  </a:lnTo>
                  <a:lnTo>
                    <a:pt x="779589" y="2326944"/>
                  </a:lnTo>
                  <a:lnTo>
                    <a:pt x="736193" y="2304935"/>
                  </a:lnTo>
                  <a:lnTo>
                    <a:pt x="736193" y="2488628"/>
                  </a:lnTo>
                  <a:lnTo>
                    <a:pt x="734593" y="2498737"/>
                  </a:lnTo>
                  <a:lnTo>
                    <a:pt x="714438" y="2534551"/>
                  </a:lnTo>
                  <a:lnTo>
                    <a:pt x="684364" y="2540012"/>
                  </a:lnTo>
                  <a:lnTo>
                    <a:pt x="135242" y="2540012"/>
                  </a:lnTo>
                  <a:lnTo>
                    <a:pt x="135242" y="2436368"/>
                  </a:lnTo>
                  <a:lnTo>
                    <a:pt x="684034" y="2436368"/>
                  </a:lnTo>
                  <a:lnTo>
                    <a:pt x="723239" y="2449753"/>
                  </a:lnTo>
                  <a:lnTo>
                    <a:pt x="736053" y="2480462"/>
                  </a:lnTo>
                  <a:lnTo>
                    <a:pt x="736193" y="2488628"/>
                  </a:lnTo>
                  <a:lnTo>
                    <a:pt x="736193" y="2304935"/>
                  </a:lnTo>
                  <a:lnTo>
                    <a:pt x="713854" y="2297392"/>
                  </a:lnTo>
                  <a:lnTo>
                    <a:pt x="677608" y="2292642"/>
                  </a:lnTo>
                  <a:lnTo>
                    <a:pt x="0" y="2292642"/>
                  </a:lnTo>
                  <a:lnTo>
                    <a:pt x="0" y="2893657"/>
                  </a:lnTo>
                  <a:lnTo>
                    <a:pt x="129578" y="2893657"/>
                  </a:lnTo>
                  <a:lnTo>
                    <a:pt x="129578" y="2654122"/>
                  </a:lnTo>
                  <a:lnTo>
                    <a:pt x="531152" y="2654122"/>
                  </a:lnTo>
                  <a:lnTo>
                    <a:pt x="706132" y="2893657"/>
                  </a:lnTo>
                  <a:lnTo>
                    <a:pt x="865441" y="2907919"/>
                  </a:lnTo>
                  <a:lnTo>
                    <a:pt x="690562" y="2668282"/>
                  </a:lnTo>
                  <a:lnTo>
                    <a:pt x="723341" y="2661932"/>
                  </a:lnTo>
                  <a:lnTo>
                    <a:pt x="781646" y="2634627"/>
                  </a:lnTo>
                  <a:lnTo>
                    <a:pt x="831138" y="2582430"/>
                  </a:lnTo>
                  <a:lnTo>
                    <a:pt x="852830" y="2540012"/>
                  </a:lnTo>
                  <a:lnTo>
                    <a:pt x="852893" y="2539809"/>
                  </a:lnTo>
                  <a:lnTo>
                    <a:pt x="860704" y="2516695"/>
                  </a:lnTo>
                  <a:lnTo>
                    <a:pt x="865441" y="2480462"/>
                  </a:lnTo>
                  <a:close/>
                </a:path>
                <a:path w="3234054" h="2914650">
                  <a:moveTo>
                    <a:pt x="1092250" y="2914446"/>
                  </a:moveTo>
                  <a:lnTo>
                    <a:pt x="1092149" y="2313330"/>
                  </a:lnTo>
                  <a:lnTo>
                    <a:pt x="962787" y="2313330"/>
                  </a:lnTo>
                  <a:lnTo>
                    <a:pt x="962787" y="2914446"/>
                  </a:lnTo>
                  <a:lnTo>
                    <a:pt x="1092250" y="2914446"/>
                  </a:lnTo>
                  <a:close/>
                </a:path>
                <a:path w="3234054" h="2914650">
                  <a:moveTo>
                    <a:pt x="1849247" y="2049081"/>
                  </a:moveTo>
                  <a:lnTo>
                    <a:pt x="975639" y="999718"/>
                  </a:lnTo>
                  <a:lnTo>
                    <a:pt x="975639" y="838365"/>
                  </a:lnTo>
                  <a:lnTo>
                    <a:pt x="982065" y="838365"/>
                  </a:lnTo>
                  <a:lnTo>
                    <a:pt x="982065" y="839127"/>
                  </a:lnTo>
                  <a:lnTo>
                    <a:pt x="1388872" y="839127"/>
                  </a:lnTo>
                  <a:lnTo>
                    <a:pt x="1404302" y="838365"/>
                  </a:lnTo>
                  <a:lnTo>
                    <a:pt x="1445247" y="836345"/>
                  </a:lnTo>
                  <a:lnTo>
                    <a:pt x="1497787" y="828255"/>
                  </a:lnTo>
                  <a:lnTo>
                    <a:pt x="1546479" y="815251"/>
                  </a:lnTo>
                  <a:lnTo>
                    <a:pt x="1591322" y="797725"/>
                  </a:lnTo>
                  <a:lnTo>
                    <a:pt x="1632305" y="776084"/>
                  </a:lnTo>
                  <a:lnTo>
                    <a:pt x="1669415" y="750709"/>
                  </a:lnTo>
                  <a:lnTo>
                    <a:pt x="1702638" y="721995"/>
                  </a:lnTo>
                  <a:lnTo>
                    <a:pt x="1732000" y="690346"/>
                  </a:lnTo>
                  <a:lnTo>
                    <a:pt x="1757451" y="656132"/>
                  </a:lnTo>
                  <a:lnTo>
                    <a:pt x="1779016" y="619772"/>
                  </a:lnTo>
                  <a:lnTo>
                    <a:pt x="1796681" y="581647"/>
                  </a:lnTo>
                  <a:lnTo>
                    <a:pt x="1810423" y="542150"/>
                  </a:lnTo>
                  <a:lnTo>
                    <a:pt x="1820252" y="501688"/>
                  </a:lnTo>
                  <a:lnTo>
                    <a:pt x="1826158" y="460641"/>
                  </a:lnTo>
                  <a:lnTo>
                    <a:pt x="1828126" y="419404"/>
                  </a:lnTo>
                  <a:lnTo>
                    <a:pt x="1826221" y="378167"/>
                  </a:lnTo>
                  <a:lnTo>
                    <a:pt x="1820494" y="337134"/>
                  </a:lnTo>
                  <a:lnTo>
                    <a:pt x="1810931" y="296684"/>
                  </a:lnTo>
                  <a:lnTo>
                    <a:pt x="1797494" y="257213"/>
                  </a:lnTo>
                  <a:lnTo>
                    <a:pt x="1780184" y="219113"/>
                  </a:lnTo>
                  <a:lnTo>
                    <a:pt x="1758962" y="182778"/>
                  </a:lnTo>
                  <a:lnTo>
                    <a:pt x="1733816" y="148602"/>
                  </a:lnTo>
                  <a:lnTo>
                    <a:pt x="1704721" y="116979"/>
                  </a:lnTo>
                  <a:lnTo>
                    <a:pt x="1671662" y="88303"/>
                  </a:lnTo>
                  <a:lnTo>
                    <a:pt x="1634629" y="62953"/>
                  </a:lnTo>
                  <a:lnTo>
                    <a:pt x="1593570" y="41338"/>
                  </a:lnTo>
                  <a:lnTo>
                    <a:pt x="1548485" y="23850"/>
                  </a:lnTo>
                  <a:lnTo>
                    <a:pt x="1499362" y="10858"/>
                  </a:lnTo>
                  <a:lnTo>
                    <a:pt x="1446161" y="2781"/>
                  </a:lnTo>
                  <a:lnTo>
                    <a:pt x="1388872" y="0"/>
                  </a:lnTo>
                  <a:lnTo>
                    <a:pt x="833539" y="0"/>
                  </a:lnTo>
                  <a:lnTo>
                    <a:pt x="833539" y="2049081"/>
                  </a:lnTo>
                  <a:lnTo>
                    <a:pt x="1849247" y="2049081"/>
                  </a:lnTo>
                  <a:close/>
                </a:path>
                <a:path w="3234054" h="2914650">
                  <a:moveTo>
                    <a:pt x="2043607" y="2720098"/>
                  </a:moveTo>
                  <a:lnTo>
                    <a:pt x="2027275" y="2649537"/>
                  </a:lnTo>
                  <a:lnTo>
                    <a:pt x="1985251" y="2590533"/>
                  </a:lnTo>
                  <a:lnTo>
                    <a:pt x="1942592" y="2556637"/>
                  </a:lnTo>
                  <a:lnTo>
                    <a:pt x="1891804" y="2536774"/>
                  </a:lnTo>
                  <a:lnTo>
                    <a:pt x="1855673" y="2532291"/>
                  </a:lnTo>
                  <a:lnTo>
                    <a:pt x="1364259" y="2532291"/>
                  </a:lnTo>
                  <a:lnTo>
                    <a:pt x="1351788" y="2532088"/>
                  </a:lnTo>
                  <a:lnTo>
                    <a:pt x="1316494" y="2502306"/>
                  </a:lnTo>
                  <a:lnTo>
                    <a:pt x="1312430" y="2480462"/>
                  </a:lnTo>
                  <a:lnTo>
                    <a:pt x="1312633" y="2468029"/>
                  </a:lnTo>
                  <a:lnTo>
                    <a:pt x="1334516" y="2436736"/>
                  </a:lnTo>
                  <a:lnTo>
                    <a:pt x="1364259" y="2428633"/>
                  </a:lnTo>
                  <a:lnTo>
                    <a:pt x="2043176" y="2428633"/>
                  </a:lnTo>
                  <a:lnTo>
                    <a:pt x="2043176" y="2299068"/>
                  </a:lnTo>
                  <a:lnTo>
                    <a:pt x="1364259" y="2299068"/>
                  </a:lnTo>
                  <a:lnTo>
                    <a:pt x="1328000" y="2303818"/>
                  </a:lnTo>
                  <a:lnTo>
                    <a:pt x="1262265" y="2333421"/>
                  </a:lnTo>
                  <a:lnTo>
                    <a:pt x="1221968" y="2370518"/>
                  </a:lnTo>
                  <a:lnTo>
                    <a:pt x="1192479" y="2416327"/>
                  </a:lnTo>
                  <a:lnTo>
                    <a:pt x="1177772" y="2468791"/>
                  </a:lnTo>
                  <a:lnTo>
                    <a:pt x="1176426" y="2486990"/>
                  </a:lnTo>
                  <a:lnTo>
                    <a:pt x="1181163" y="2523210"/>
                  </a:lnTo>
                  <a:lnTo>
                    <a:pt x="1210716" y="2588882"/>
                  </a:lnTo>
                  <a:lnTo>
                    <a:pt x="1247775" y="2629166"/>
                  </a:lnTo>
                  <a:lnTo>
                    <a:pt x="1293583" y="2658681"/>
                  </a:lnTo>
                  <a:lnTo>
                    <a:pt x="1346047" y="2673439"/>
                  </a:lnTo>
                  <a:lnTo>
                    <a:pt x="1364259" y="2674810"/>
                  </a:lnTo>
                  <a:lnTo>
                    <a:pt x="1855673" y="2674810"/>
                  </a:lnTo>
                  <a:lnTo>
                    <a:pt x="1868144" y="2675013"/>
                  </a:lnTo>
                  <a:lnTo>
                    <a:pt x="1899424" y="2696883"/>
                  </a:lnTo>
                  <a:lnTo>
                    <a:pt x="1907501" y="2726639"/>
                  </a:lnTo>
                  <a:lnTo>
                    <a:pt x="1907298" y="2739059"/>
                  </a:lnTo>
                  <a:lnTo>
                    <a:pt x="1885416" y="2770352"/>
                  </a:lnTo>
                  <a:lnTo>
                    <a:pt x="1855673" y="2778455"/>
                  </a:lnTo>
                  <a:lnTo>
                    <a:pt x="1176426" y="2778455"/>
                  </a:lnTo>
                  <a:lnTo>
                    <a:pt x="1176426" y="2907919"/>
                  </a:lnTo>
                  <a:lnTo>
                    <a:pt x="1855673" y="2907919"/>
                  </a:lnTo>
                  <a:lnTo>
                    <a:pt x="1891906" y="2903182"/>
                  </a:lnTo>
                  <a:lnTo>
                    <a:pt x="1957654" y="2873629"/>
                  </a:lnTo>
                  <a:lnTo>
                    <a:pt x="2010765" y="2820314"/>
                  </a:lnTo>
                  <a:lnTo>
                    <a:pt x="2039962" y="2756751"/>
                  </a:lnTo>
                  <a:lnTo>
                    <a:pt x="2043607" y="2720098"/>
                  </a:lnTo>
                  <a:close/>
                </a:path>
                <a:path w="3234054" h="2914650">
                  <a:moveTo>
                    <a:pt x="2968180" y="2313330"/>
                  </a:moveTo>
                  <a:lnTo>
                    <a:pt x="2412301" y="2313330"/>
                  </a:lnTo>
                  <a:lnTo>
                    <a:pt x="2360892" y="2316442"/>
                  </a:lnTo>
                  <a:lnTo>
                    <a:pt x="2314740" y="2325776"/>
                  </a:lnTo>
                  <a:lnTo>
                    <a:pt x="2272919" y="2341321"/>
                  </a:lnTo>
                  <a:lnTo>
                    <a:pt x="2234501" y="2363089"/>
                  </a:lnTo>
                  <a:lnTo>
                    <a:pt x="2198560" y="2391067"/>
                  </a:lnTo>
                  <a:lnTo>
                    <a:pt x="2166836" y="2430094"/>
                  </a:lnTo>
                  <a:lnTo>
                    <a:pt x="2141563" y="2470048"/>
                  </a:lnTo>
                  <a:lnTo>
                    <a:pt x="2123071" y="2511869"/>
                  </a:lnTo>
                  <a:lnTo>
                    <a:pt x="2111718" y="2556472"/>
                  </a:lnTo>
                  <a:lnTo>
                    <a:pt x="2107857" y="2604795"/>
                  </a:lnTo>
                  <a:lnTo>
                    <a:pt x="2109228" y="2634627"/>
                  </a:lnTo>
                  <a:lnTo>
                    <a:pt x="2120963" y="2692946"/>
                  </a:lnTo>
                  <a:lnTo>
                    <a:pt x="2144255" y="2747861"/>
                  </a:lnTo>
                  <a:lnTo>
                    <a:pt x="2178062" y="2796806"/>
                  </a:lnTo>
                  <a:lnTo>
                    <a:pt x="2237587" y="2850248"/>
                  </a:lnTo>
                  <a:lnTo>
                    <a:pt x="2277541" y="2875521"/>
                  </a:lnTo>
                  <a:lnTo>
                    <a:pt x="2319363" y="2894012"/>
                  </a:lnTo>
                  <a:lnTo>
                    <a:pt x="2363978" y="2905366"/>
                  </a:lnTo>
                  <a:lnTo>
                    <a:pt x="2412301" y="2909227"/>
                  </a:lnTo>
                  <a:lnTo>
                    <a:pt x="2968180" y="2909227"/>
                  </a:lnTo>
                  <a:lnTo>
                    <a:pt x="2968180" y="2779661"/>
                  </a:lnTo>
                  <a:lnTo>
                    <a:pt x="2412301" y="2779661"/>
                  </a:lnTo>
                  <a:lnTo>
                    <a:pt x="2375852" y="2777172"/>
                  </a:lnTo>
                  <a:lnTo>
                    <a:pt x="2314994" y="2755227"/>
                  </a:lnTo>
                  <a:lnTo>
                    <a:pt x="2270455" y="2706713"/>
                  </a:lnTo>
                  <a:lnTo>
                    <a:pt x="2247569" y="2644571"/>
                  </a:lnTo>
                  <a:lnTo>
                    <a:pt x="2243963" y="2611336"/>
                  </a:lnTo>
                  <a:lnTo>
                    <a:pt x="2246452" y="2574823"/>
                  </a:lnTo>
                  <a:lnTo>
                    <a:pt x="2268397" y="2513927"/>
                  </a:lnTo>
                  <a:lnTo>
                    <a:pt x="2316911" y="2469388"/>
                  </a:lnTo>
                  <a:lnTo>
                    <a:pt x="2379065" y="2446515"/>
                  </a:lnTo>
                  <a:lnTo>
                    <a:pt x="2412301" y="2442895"/>
                  </a:lnTo>
                  <a:lnTo>
                    <a:pt x="2968180" y="2442895"/>
                  </a:lnTo>
                  <a:lnTo>
                    <a:pt x="2968180" y="2313330"/>
                  </a:lnTo>
                  <a:close/>
                </a:path>
                <a:path w="3234054" h="2914650">
                  <a:moveTo>
                    <a:pt x="3233763" y="889647"/>
                  </a:moveTo>
                  <a:lnTo>
                    <a:pt x="2470670" y="1963623"/>
                  </a:lnTo>
                  <a:lnTo>
                    <a:pt x="2412415" y="2054644"/>
                  </a:lnTo>
                  <a:lnTo>
                    <a:pt x="3233763" y="2054644"/>
                  </a:lnTo>
                  <a:lnTo>
                    <a:pt x="3233763" y="889647"/>
                  </a:lnTo>
                  <a:close/>
                </a:path>
              </a:pathLst>
            </a:custGeom>
            <a:solidFill>
              <a:srgbClr val="2D3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02990" y="4583582"/>
              <a:ext cx="1074420" cy="601345"/>
            </a:xfrm>
            <a:custGeom>
              <a:avLst/>
              <a:gdLst/>
              <a:ahLst/>
              <a:cxnLst/>
              <a:rect l="l" t="t" r="r" b="b"/>
              <a:pathLst>
                <a:path w="1074420" h="601345">
                  <a:moveTo>
                    <a:pt x="252628" y="238340"/>
                  </a:moveTo>
                  <a:lnTo>
                    <a:pt x="0" y="238340"/>
                  </a:lnTo>
                  <a:lnTo>
                    <a:pt x="0" y="354952"/>
                  </a:lnTo>
                  <a:lnTo>
                    <a:pt x="252628" y="354952"/>
                  </a:lnTo>
                  <a:lnTo>
                    <a:pt x="252628" y="238340"/>
                  </a:lnTo>
                  <a:close/>
                </a:path>
                <a:path w="1074420" h="601345">
                  <a:moveTo>
                    <a:pt x="1073975" y="0"/>
                  </a:moveTo>
                  <a:lnTo>
                    <a:pt x="925017" y="0"/>
                  </a:lnTo>
                  <a:lnTo>
                    <a:pt x="646366" y="478091"/>
                  </a:lnTo>
                  <a:lnTo>
                    <a:pt x="367830" y="0"/>
                  </a:lnTo>
                  <a:lnTo>
                    <a:pt x="218871" y="0"/>
                  </a:lnTo>
                  <a:lnTo>
                    <a:pt x="568845" y="601116"/>
                  </a:lnTo>
                  <a:lnTo>
                    <a:pt x="724115" y="601116"/>
                  </a:lnTo>
                  <a:lnTo>
                    <a:pt x="1073975" y="0"/>
                  </a:lnTo>
                  <a:close/>
                </a:path>
              </a:pathLst>
            </a:custGeom>
            <a:solidFill>
              <a:srgbClr val="E3B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1417" y="4583579"/>
              <a:ext cx="140732" cy="13860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73020" y="1415408"/>
            <a:ext cx="6437380" cy="43909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276225" indent="-285750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298450" algn="l"/>
              </a:tabLst>
            </a:pPr>
            <a:endParaRPr lang="ru-RU" sz="1800" b="1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298450" marR="276225" indent="-285750">
              <a:lnSpc>
                <a:spcPct val="100000"/>
              </a:lnSpc>
              <a:spcBef>
                <a:spcPts val="1935"/>
              </a:spcBef>
              <a:buFont typeface="Arial MT"/>
              <a:buChar char="•"/>
              <a:tabLst>
                <a:tab pos="298450" algn="l"/>
              </a:tabLst>
            </a:pPr>
            <a:r>
              <a:rPr sz="1800" b="1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Рост</a:t>
            </a:r>
            <a:r>
              <a:rPr sz="1800" b="1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популярности</a:t>
            </a:r>
            <a:r>
              <a:rPr sz="1800" b="1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использования</a:t>
            </a:r>
            <a:r>
              <a:rPr sz="1800" b="1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архитектуры</a:t>
            </a:r>
            <a:r>
              <a:rPr sz="1800" b="1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sz="1800" b="1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r>
              <a:rPr sz="18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.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</a:t>
            </a:r>
            <a:r>
              <a:rPr sz="18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основе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RISC-V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основаны</a:t>
            </a:r>
            <a:r>
              <a:rPr sz="18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коммерчески</a:t>
            </a:r>
            <a:r>
              <a:rPr sz="18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успешные процессорные</a:t>
            </a:r>
            <a:r>
              <a:rPr sz="18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ядра</a:t>
            </a:r>
            <a:r>
              <a:rPr sz="18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таких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компаний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как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Syntacore, </a:t>
            </a:r>
            <a:r>
              <a:rPr sz="18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Cloudbear,</a:t>
            </a:r>
            <a:r>
              <a:rPr sz="18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Imagination,</a:t>
            </a:r>
            <a:r>
              <a:rPr sz="18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SiFive,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Allwinner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др.</a:t>
            </a:r>
            <a:endParaRPr sz="1800" dirty="0">
              <a:latin typeface="HSE Sans" panose="02000000000000000000" pitchFamily="50" charset="0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Потребность</a:t>
            </a:r>
            <a:r>
              <a:rPr sz="1800" b="1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</a:t>
            </a:r>
            <a:r>
              <a:rPr sz="1800" b="1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специалистах</a:t>
            </a:r>
            <a:r>
              <a:rPr sz="1800" b="1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sz="1800" b="1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верификации.</a:t>
            </a:r>
            <a:endParaRPr sz="1800" dirty="0">
              <a:latin typeface="HSE Sans" panose="02000000000000000000" pitchFamily="50" charset="0"/>
              <a:cs typeface="Calibri"/>
            </a:endParaRPr>
          </a:p>
          <a:p>
            <a:pPr marL="297815" marR="50800">
              <a:lnSpc>
                <a:spcPct val="100000"/>
              </a:lnSpc>
            </a:pP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Во</a:t>
            </a:r>
            <a:r>
              <a:rPr sz="18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многих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компаниях</a:t>
            </a:r>
            <a:r>
              <a:rPr sz="18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sz="18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производству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микроэлектроники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не</a:t>
            </a:r>
            <a:r>
              <a:rPr sz="18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хватает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верификаторов.</a:t>
            </a:r>
            <a:r>
              <a:rPr sz="18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</a:t>
            </a:r>
            <a:r>
              <a:rPr sz="18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sz="18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позволи</a:t>
            </a:r>
            <a:r>
              <a:rPr lang="ru-RU"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т</a:t>
            </a:r>
            <a:r>
              <a:rPr sz="1800" spc="-7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студентам</a:t>
            </a:r>
            <a:r>
              <a:rPr sz="1800" spc="-7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приобрести</a:t>
            </a:r>
            <a:r>
              <a:rPr sz="1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важные</a:t>
            </a:r>
            <a:r>
              <a:rPr sz="1800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навыки,</a:t>
            </a:r>
            <a:r>
              <a:rPr sz="1800" spc="-6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которые востребованы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</a:t>
            </a:r>
            <a:r>
              <a:rPr sz="18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рынке</a:t>
            </a:r>
            <a:r>
              <a:rPr sz="18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труда.</a:t>
            </a:r>
            <a:endParaRPr sz="1800" dirty="0">
              <a:latin typeface="HSE Sans" panose="02000000000000000000" pitchFamily="50" charset="0"/>
              <a:cs typeface="Calibri"/>
            </a:endParaRPr>
          </a:p>
          <a:p>
            <a:pPr marL="297815" marR="1272540" indent="-28575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Недостаток</a:t>
            </a:r>
            <a:r>
              <a:rPr sz="1800" b="1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образовательных</a:t>
            </a:r>
            <a:r>
              <a:rPr sz="1800" b="1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материалов</a:t>
            </a:r>
            <a:r>
              <a:rPr sz="1800" b="1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b="1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 </a:t>
            </a:r>
            <a:r>
              <a:rPr sz="18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верификации.</a:t>
            </a:r>
            <a:endParaRPr sz="1800" dirty="0">
              <a:latin typeface="HSE Sans" panose="02000000000000000000" pitchFamily="50" charset="0"/>
              <a:cs typeface="Calibri"/>
            </a:endParaRPr>
          </a:p>
          <a:p>
            <a:pPr marL="297815" marR="5080">
              <a:lnSpc>
                <a:spcPct val="100000"/>
              </a:lnSpc>
            </a:pPr>
            <a:r>
              <a:rPr lang="ru-RU"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</a:t>
            </a:r>
            <a:r>
              <a:rPr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абораторн</a:t>
            </a:r>
            <a:r>
              <a:rPr lang="ru-RU"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ый</a:t>
            </a:r>
            <a:r>
              <a:rPr sz="18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</a:t>
            </a:r>
            <a:r>
              <a:rPr sz="18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поможет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восполнить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этот</a:t>
            </a:r>
            <a:r>
              <a:rPr sz="18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пробел,</a:t>
            </a:r>
            <a:r>
              <a:rPr sz="18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предоставив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учебные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ресурсы</a:t>
            </a:r>
            <a:r>
              <a:rPr sz="18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для</a:t>
            </a:r>
            <a:r>
              <a:rPr sz="1800" spc="-7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обучения.</a:t>
            </a:r>
            <a:endParaRPr sz="18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4" name="Google Shape;190;p3">
            <a:extLst>
              <a:ext uri="{FF2B5EF4-FFF2-40B4-BE49-F238E27FC236}">
                <a16:creationId xmlns:a16="http://schemas.microsoft.com/office/drawing/2014/main" id="{FABA2232-5950-1FC8-4CD3-CF925BD7A11F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5" name="Google Shape;191;p3">
            <a:extLst>
              <a:ext uri="{FF2B5EF4-FFF2-40B4-BE49-F238E27FC236}">
                <a16:creationId xmlns:a16="http://schemas.microsoft.com/office/drawing/2014/main" id="{798F5971-1FAF-FA1F-674C-5FBEEAB413EC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6" name="Google Shape;193;p3">
            <a:extLst>
              <a:ext uri="{FF2B5EF4-FFF2-40B4-BE49-F238E27FC236}">
                <a16:creationId xmlns:a16="http://schemas.microsoft.com/office/drawing/2014/main" id="{ABF2F832-FBA4-D4AB-912F-089336E54698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9A9BEA35-14C7-E3D2-EADB-BE57FFFC4CCF}"/>
              </a:ext>
            </a:extLst>
          </p:cNvPr>
          <p:cNvSpPr txBox="1"/>
          <p:nvPr/>
        </p:nvSpPr>
        <p:spPr>
          <a:xfrm>
            <a:off x="471541" y="1219200"/>
            <a:ext cx="524345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Актуальность</a:t>
            </a:r>
            <a:r>
              <a:rPr lang="ru-RU" sz="2400" b="1" spc="-4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проекта</a:t>
            </a:r>
            <a:endParaRPr lang="ru-RU" sz="2400" dirty="0"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6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59829" y="458088"/>
            <a:ext cx="5629910" cy="4888865"/>
            <a:chOff x="6259829" y="458088"/>
            <a:chExt cx="5629910" cy="4888865"/>
          </a:xfrm>
        </p:grpSpPr>
        <p:sp>
          <p:nvSpPr>
            <p:cNvPr id="4" name="object 4"/>
            <p:cNvSpPr/>
            <p:nvPr/>
          </p:nvSpPr>
          <p:spPr>
            <a:xfrm>
              <a:off x="11644502" y="464438"/>
              <a:ext cx="635" cy="587375"/>
            </a:xfrm>
            <a:custGeom>
              <a:avLst/>
              <a:gdLst/>
              <a:ahLst/>
              <a:cxnLst/>
              <a:rect l="l" t="t" r="r" b="b"/>
              <a:pathLst>
                <a:path w="634" h="587375">
                  <a:moveTo>
                    <a:pt x="0" y="0"/>
                  </a:moveTo>
                  <a:lnTo>
                    <a:pt x="355" y="586803"/>
                  </a:lnTo>
                </a:path>
              </a:pathLst>
            </a:custGeom>
            <a:ln w="12700">
              <a:solidFill>
                <a:srgbClr val="10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9829" y="2663190"/>
              <a:ext cx="5629655" cy="268376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71541" y="1219200"/>
            <a:ext cx="5243459" cy="5393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Цель</a:t>
            </a:r>
            <a:r>
              <a:rPr sz="2400" b="1" spc="-6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4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sz="2400" b="1" spc="-6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задачи</a:t>
            </a:r>
            <a:endParaRPr sz="2400" dirty="0">
              <a:latin typeface="HSE Sans" panose="02000000000000000000" pitchFamily="50" charset="0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1985"/>
              </a:spcBef>
            </a:pPr>
            <a:r>
              <a:rPr sz="17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Цель:</a:t>
            </a:r>
            <a:endParaRPr sz="1700" dirty="0">
              <a:latin typeface="HSE Sans" panose="02000000000000000000" pitchFamily="50" charset="0"/>
              <a:cs typeface="Calibri"/>
            </a:endParaRPr>
          </a:p>
          <a:p>
            <a:pPr marL="297815" marR="173355" indent="-285750">
              <a:lnSpc>
                <a:spcPts val="1839"/>
              </a:lnSpc>
              <a:spcBef>
                <a:spcPts val="1025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Разработать</a:t>
            </a:r>
            <a:r>
              <a:rPr sz="1700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7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лабораторный</a:t>
            </a:r>
            <a:r>
              <a:rPr sz="17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7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</a:t>
            </a:r>
            <a:r>
              <a:rPr sz="1700" spc="-6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7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sz="1700" spc="-6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7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sz="17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7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процессорн</a:t>
            </a:r>
            <a:r>
              <a:rPr lang="ru-RU" sz="17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ого</a:t>
            </a:r>
            <a:r>
              <a:rPr sz="17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7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яд</a:t>
            </a:r>
            <a:r>
              <a:rPr lang="ru-RU" sz="17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</a:t>
            </a:r>
            <a:r>
              <a:rPr sz="17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17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sz="17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sz="1700" dirty="0">
              <a:latin typeface="HSE Sans" panose="02000000000000000000" pitchFamily="50" charset="0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65"/>
              </a:spcBef>
            </a:pPr>
            <a:r>
              <a:rPr sz="1700" b="1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Задачи</a:t>
            </a:r>
            <a:r>
              <a:rPr sz="1700" b="1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:</a:t>
            </a:r>
            <a:endParaRPr sz="1700" dirty="0">
              <a:latin typeface="HSE Sans" panose="02000000000000000000" pitchFamily="50" charset="0"/>
              <a:cs typeface="Calibri"/>
            </a:endParaRPr>
          </a:p>
          <a:p>
            <a:pPr marL="297815" indent="-285115">
              <a:lnSpc>
                <a:spcPts val="1939"/>
              </a:lnSpc>
              <a:spcBef>
                <a:spcPts val="795"/>
              </a:spcBef>
              <a:buFont typeface="Arial MT"/>
              <a:buChar char="•"/>
              <a:tabLst>
                <a:tab pos="297815" algn="l"/>
              </a:tabLst>
            </a:pP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Разработать </a:t>
            </a:r>
            <a:r>
              <a:rPr lang="ru-RU" sz="16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теоретическую часть для лабораторных работ (ЛР)</a:t>
            </a:r>
          </a:p>
          <a:p>
            <a:pPr marL="297815" indent="-285115">
              <a:lnSpc>
                <a:spcPts val="1939"/>
              </a:lnSpc>
              <a:spcBef>
                <a:spcPts val="795"/>
              </a:spcBef>
              <a:buFont typeface="Arial MT"/>
              <a:buChar char="•"/>
              <a:tabLst>
                <a:tab pos="297815" algn="l"/>
              </a:tabLst>
            </a:pPr>
            <a:r>
              <a:rPr lang="ru-RU" sz="16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Разработать </a:t>
            </a: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указания к выполнению ЛР, описание используемого ПО и программных моделей</a:t>
            </a:r>
          </a:p>
          <a:p>
            <a:pPr marL="297815" indent="-285115" algn="l">
              <a:lnSpc>
                <a:spcPts val="1939"/>
              </a:lnSpc>
              <a:spcBef>
                <a:spcPts val="795"/>
              </a:spcBef>
              <a:buFont typeface="Arial MT"/>
              <a:buChar char="•"/>
              <a:tabLst>
                <a:tab pos="297815" algn="l"/>
              </a:tabLst>
            </a:pP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Разработать 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описание блоков АЛУ для ЛР-1, доработать 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описание блоков периферии для ЛР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-</a:t>
            </a: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2 и ЛР-3 (</a:t>
            </a:r>
            <a:r>
              <a:rPr lang="en-US" sz="16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SystemVerilog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)</a:t>
            </a:r>
            <a:endParaRPr lang="ru-RU" sz="1600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297815" indent="-285115">
              <a:lnSpc>
                <a:spcPts val="1939"/>
              </a:lnSpc>
              <a:spcBef>
                <a:spcPts val="795"/>
              </a:spcBef>
              <a:buFont typeface="Arial MT"/>
              <a:buChar char="•"/>
              <a:tabLst>
                <a:tab pos="297815" algn="l"/>
              </a:tabLst>
            </a:pP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Разработать верификационное окружение для каждой ЛР с помощью языков 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C++, </a:t>
            </a:r>
            <a:r>
              <a:rPr lang="en-US" sz="16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SystemVerilog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, </a:t>
            </a:r>
            <a:r>
              <a:rPr lang="en-US" sz="16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SystemC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 ПО </a:t>
            </a:r>
            <a:r>
              <a:rPr lang="en-US" sz="1600" spc="-1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Verilator</a:t>
            </a:r>
            <a:endParaRPr lang="en-US" sz="1600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297815" indent="-285115">
              <a:lnSpc>
                <a:spcPts val="1939"/>
              </a:lnSpc>
              <a:spcBef>
                <a:spcPts val="795"/>
              </a:spcBef>
              <a:buFont typeface="Arial MT"/>
              <a:buChar char="•"/>
              <a:tabLst>
                <a:tab pos="297815" algn="l"/>
              </a:tabLst>
            </a:pPr>
            <a:r>
              <a:rPr lang="ru-RU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Разработать интеграционные тесты на процессорное ядро </a:t>
            </a:r>
            <a:r>
              <a:rPr lang="en-US" sz="16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RISC-V</a:t>
            </a:r>
            <a:endParaRPr lang="ru-RU" sz="1600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1" name="Google Shape;190;p3">
            <a:extLst>
              <a:ext uri="{FF2B5EF4-FFF2-40B4-BE49-F238E27FC236}">
                <a16:creationId xmlns:a16="http://schemas.microsoft.com/office/drawing/2014/main" id="{38CBBBF2-9DCF-BDDE-F172-901F4764A515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2" name="Google Shape;191;p3">
            <a:extLst>
              <a:ext uri="{FF2B5EF4-FFF2-40B4-BE49-F238E27FC236}">
                <a16:creationId xmlns:a16="http://schemas.microsoft.com/office/drawing/2014/main" id="{16919E21-2340-A8B8-3237-0F812A01E7C6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3" name="Google Shape;193;p3">
            <a:extLst>
              <a:ext uri="{FF2B5EF4-FFF2-40B4-BE49-F238E27FC236}">
                <a16:creationId xmlns:a16="http://schemas.microsoft.com/office/drawing/2014/main" id="{E5C9F203-04C0-D40B-08D9-6975B56A4BA5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7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61654" y="447499"/>
            <a:ext cx="10584433" cy="5868035"/>
            <a:chOff x="1735073" y="458088"/>
            <a:chExt cx="9916160" cy="5868035"/>
          </a:xfrm>
        </p:grpSpPr>
        <p:sp>
          <p:nvSpPr>
            <p:cNvPr id="4" name="object 4"/>
            <p:cNvSpPr/>
            <p:nvPr/>
          </p:nvSpPr>
          <p:spPr>
            <a:xfrm>
              <a:off x="11644503" y="464438"/>
              <a:ext cx="635" cy="587375"/>
            </a:xfrm>
            <a:custGeom>
              <a:avLst/>
              <a:gdLst/>
              <a:ahLst/>
              <a:cxnLst/>
              <a:rect l="l" t="t" r="r" b="b"/>
              <a:pathLst>
                <a:path w="634" h="587375">
                  <a:moveTo>
                    <a:pt x="0" y="0"/>
                  </a:moveTo>
                  <a:lnTo>
                    <a:pt x="355" y="586803"/>
                  </a:lnTo>
                </a:path>
              </a:pathLst>
            </a:custGeom>
            <a:ln w="12700">
              <a:solidFill>
                <a:srgbClr val="102C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44598" y="1713356"/>
              <a:ext cx="6701155" cy="829310"/>
            </a:xfrm>
            <a:custGeom>
              <a:avLst/>
              <a:gdLst/>
              <a:ahLst/>
              <a:cxnLst/>
              <a:rect l="l" t="t" r="r" b="b"/>
              <a:pathLst>
                <a:path w="6701155" h="829310">
                  <a:moveTo>
                    <a:pt x="6618122" y="0"/>
                  </a:moveTo>
                  <a:lnTo>
                    <a:pt x="82905" y="0"/>
                  </a:lnTo>
                  <a:lnTo>
                    <a:pt x="50636" y="6515"/>
                  </a:lnTo>
                  <a:lnTo>
                    <a:pt x="24283" y="24283"/>
                  </a:lnTo>
                  <a:lnTo>
                    <a:pt x="6515" y="50636"/>
                  </a:lnTo>
                  <a:lnTo>
                    <a:pt x="0" y="82905"/>
                  </a:lnTo>
                  <a:lnTo>
                    <a:pt x="0" y="746150"/>
                  </a:lnTo>
                  <a:lnTo>
                    <a:pt x="6515" y="778419"/>
                  </a:lnTo>
                  <a:lnTo>
                    <a:pt x="24283" y="804772"/>
                  </a:lnTo>
                  <a:lnTo>
                    <a:pt x="50636" y="822540"/>
                  </a:lnTo>
                  <a:lnTo>
                    <a:pt x="82905" y="829056"/>
                  </a:lnTo>
                  <a:lnTo>
                    <a:pt x="6618122" y="829056"/>
                  </a:lnTo>
                  <a:lnTo>
                    <a:pt x="6650391" y="822540"/>
                  </a:lnTo>
                  <a:lnTo>
                    <a:pt x="6676744" y="804772"/>
                  </a:lnTo>
                  <a:lnTo>
                    <a:pt x="6694512" y="778419"/>
                  </a:lnTo>
                  <a:lnTo>
                    <a:pt x="6701028" y="746150"/>
                  </a:lnTo>
                  <a:lnTo>
                    <a:pt x="6701028" y="82905"/>
                  </a:lnTo>
                  <a:lnTo>
                    <a:pt x="6694512" y="50636"/>
                  </a:lnTo>
                  <a:lnTo>
                    <a:pt x="6676744" y="24283"/>
                  </a:lnTo>
                  <a:lnTo>
                    <a:pt x="6650391" y="6515"/>
                  </a:lnTo>
                  <a:lnTo>
                    <a:pt x="6618122" y="0"/>
                  </a:lnTo>
                  <a:close/>
                </a:path>
              </a:pathLst>
            </a:custGeom>
            <a:solidFill>
              <a:srgbClr val="E2EDFC">
                <a:alpha val="3411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44598" y="1713356"/>
              <a:ext cx="6701155" cy="829310"/>
            </a:xfrm>
            <a:custGeom>
              <a:avLst/>
              <a:gdLst/>
              <a:ahLst/>
              <a:cxnLst/>
              <a:rect l="l" t="t" r="r" b="b"/>
              <a:pathLst>
                <a:path w="6701155" h="829310">
                  <a:moveTo>
                    <a:pt x="0" y="82905"/>
                  </a:moveTo>
                  <a:lnTo>
                    <a:pt x="6515" y="50636"/>
                  </a:lnTo>
                  <a:lnTo>
                    <a:pt x="24283" y="24283"/>
                  </a:lnTo>
                  <a:lnTo>
                    <a:pt x="50636" y="6515"/>
                  </a:lnTo>
                  <a:lnTo>
                    <a:pt x="82905" y="0"/>
                  </a:lnTo>
                  <a:lnTo>
                    <a:pt x="6618122" y="0"/>
                  </a:lnTo>
                  <a:lnTo>
                    <a:pt x="6650391" y="6515"/>
                  </a:lnTo>
                  <a:lnTo>
                    <a:pt x="6676744" y="24283"/>
                  </a:lnTo>
                  <a:lnTo>
                    <a:pt x="6694512" y="50636"/>
                  </a:lnTo>
                  <a:lnTo>
                    <a:pt x="6701028" y="82905"/>
                  </a:lnTo>
                  <a:lnTo>
                    <a:pt x="6701028" y="746150"/>
                  </a:lnTo>
                  <a:lnTo>
                    <a:pt x="6694512" y="778419"/>
                  </a:lnTo>
                  <a:lnTo>
                    <a:pt x="6676744" y="804772"/>
                  </a:lnTo>
                  <a:lnTo>
                    <a:pt x="6650391" y="822540"/>
                  </a:lnTo>
                  <a:lnTo>
                    <a:pt x="6618122" y="829056"/>
                  </a:lnTo>
                  <a:lnTo>
                    <a:pt x="82905" y="829056"/>
                  </a:lnTo>
                  <a:lnTo>
                    <a:pt x="50636" y="822540"/>
                  </a:lnTo>
                  <a:lnTo>
                    <a:pt x="24283" y="804772"/>
                  </a:lnTo>
                  <a:lnTo>
                    <a:pt x="6515" y="778419"/>
                  </a:lnTo>
                  <a:lnTo>
                    <a:pt x="0" y="746150"/>
                  </a:lnTo>
                  <a:lnTo>
                    <a:pt x="0" y="82905"/>
                  </a:lnTo>
                  <a:close/>
                </a:path>
              </a:pathLst>
            </a:custGeom>
            <a:ln w="19049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45232" y="2657477"/>
              <a:ext cx="6701155" cy="828675"/>
            </a:xfrm>
            <a:custGeom>
              <a:avLst/>
              <a:gdLst/>
              <a:ahLst/>
              <a:cxnLst/>
              <a:rect l="l" t="t" r="r" b="b"/>
              <a:pathLst>
                <a:path w="6701155" h="828675">
                  <a:moveTo>
                    <a:pt x="6618198" y="0"/>
                  </a:moveTo>
                  <a:lnTo>
                    <a:pt x="82829" y="0"/>
                  </a:lnTo>
                  <a:lnTo>
                    <a:pt x="50588" y="6509"/>
                  </a:lnTo>
                  <a:lnTo>
                    <a:pt x="24260" y="24260"/>
                  </a:lnTo>
                  <a:lnTo>
                    <a:pt x="6509" y="50588"/>
                  </a:lnTo>
                  <a:lnTo>
                    <a:pt x="0" y="82829"/>
                  </a:lnTo>
                  <a:lnTo>
                    <a:pt x="0" y="745464"/>
                  </a:lnTo>
                  <a:lnTo>
                    <a:pt x="6509" y="777705"/>
                  </a:lnTo>
                  <a:lnTo>
                    <a:pt x="24260" y="804033"/>
                  </a:lnTo>
                  <a:lnTo>
                    <a:pt x="50588" y="821784"/>
                  </a:lnTo>
                  <a:lnTo>
                    <a:pt x="82829" y="828294"/>
                  </a:lnTo>
                  <a:lnTo>
                    <a:pt x="6618198" y="828294"/>
                  </a:lnTo>
                  <a:lnTo>
                    <a:pt x="6650439" y="821784"/>
                  </a:lnTo>
                  <a:lnTo>
                    <a:pt x="6676767" y="804033"/>
                  </a:lnTo>
                  <a:lnTo>
                    <a:pt x="6694518" y="777705"/>
                  </a:lnTo>
                  <a:lnTo>
                    <a:pt x="6701028" y="745464"/>
                  </a:lnTo>
                  <a:lnTo>
                    <a:pt x="6701028" y="82829"/>
                  </a:lnTo>
                  <a:lnTo>
                    <a:pt x="6694518" y="50588"/>
                  </a:lnTo>
                  <a:lnTo>
                    <a:pt x="6676767" y="24260"/>
                  </a:lnTo>
                  <a:lnTo>
                    <a:pt x="6650439" y="6509"/>
                  </a:lnTo>
                  <a:lnTo>
                    <a:pt x="6618198" y="0"/>
                  </a:lnTo>
                  <a:close/>
                </a:path>
              </a:pathLst>
            </a:custGeom>
            <a:solidFill>
              <a:srgbClr val="E2EDFC">
                <a:alpha val="3411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5232" y="2657477"/>
              <a:ext cx="6701155" cy="828675"/>
            </a:xfrm>
            <a:custGeom>
              <a:avLst/>
              <a:gdLst/>
              <a:ahLst/>
              <a:cxnLst/>
              <a:rect l="l" t="t" r="r" b="b"/>
              <a:pathLst>
                <a:path w="6701155" h="828675">
                  <a:moveTo>
                    <a:pt x="0" y="82829"/>
                  </a:moveTo>
                  <a:lnTo>
                    <a:pt x="6509" y="50588"/>
                  </a:lnTo>
                  <a:lnTo>
                    <a:pt x="24260" y="24260"/>
                  </a:lnTo>
                  <a:lnTo>
                    <a:pt x="50588" y="6509"/>
                  </a:lnTo>
                  <a:lnTo>
                    <a:pt x="82829" y="0"/>
                  </a:lnTo>
                  <a:lnTo>
                    <a:pt x="6618198" y="0"/>
                  </a:lnTo>
                  <a:lnTo>
                    <a:pt x="6650439" y="6509"/>
                  </a:lnTo>
                  <a:lnTo>
                    <a:pt x="6676767" y="24260"/>
                  </a:lnTo>
                  <a:lnTo>
                    <a:pt x="6694518" y="50588"/>
                  </a:lnTo>
                  <a:lnTo>
                    <a:pt x="6701028" y="82829"/>
                  </a:lnTo>
                  <a:lnTo>
                    <a:pt x="6701028" y="745464"/>
                  </a:lnTo>
                  <a:lnTo>
                    <a:pt x="6694518" y="777705"/>
                  </a:lnTo>
                  <a:lnTo>
                    <a:pt x="6676767" y="804033"/>
                  </a:lnTo>
                  <a:lnTo>
                    <a:pt x="6650439" y="821784"/>
                  </a:lnTo>
                  <a:lnTo>
                    <a:pt x="6618198" y="828294"/>
                  </a:lnTo>
                  <a:lnTo>
                    <a:pt x="82829" y="828294"/>
                  </a:lnTo>
                  <a:lnTo>
                    <a:pt x="50588" y="821784"/>
                  </a:lnTo>
                  <a:lnTo>
                    <a:pt x="24260" y="804033"/>
                  </a:lnTo>
                  <a:lnTo>
                    <a:pt x="6509" y="777705"/>
                  </a:lnTo>
                  <a:lnTo>
                    <a:pt x="0" y="745464"/>
                  </a:lnTo>
                  <a:lnTo>
                    <a:pt x="0" y="82829"/>
                  </a:lnTo>
                  <a:close/>
                </a:path>
              </a:pathLst>
            </a:custGeom>
            <a:ln w="1905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5866" y="3600831"/>
              <a:ext cx="6701155" cy="829310"/>
            </a:xfrm>
            <a:custGeom>
              <a:avLst/>
              <a:gdLst/>
              <a:ahLst/>
              <a:cxnLst/>
              <a:rect l="l" t="t" r="r" b="b"/>
              <a:pathLst>
                <a:path w="6701155" h="829310">
                  <a:moveTo>
                    <a:pt x="6618122" y="0"/>
                  </a:moveTo>
                  <a:lnTo>
                    <a:pt x="82905" y="0"/>
                  </a:lnTo>
                  <a:lnTo>
                    <a:pt x="50636" y="6515"/>
                  </a:lnTo>
                  <a:lnTo>
                    <a:pt x="24283" y="24283"/>
                  </a:lnTo>
                  <a:lnTo>
                    <a:pt x="6515" y="50636"/>
                  </a:lnTo>
                  <a:lnTo>
                    <a:pt x="0" y="82905"/>
                  </a:lnTo>
                  <a:lnTo>
                    <a:pt x="0" y="746150"/>
                  </a:lnTo>
                  <a:lnTo>
                    <a:pt x="6515" y="778419"/>
                  </a:lnTo>
                  <a:lnTo>
                    <a:pt x="24283" y="804772"/>
                  </a:lnTo>
                  <a:lnTo>
                    <a:pt x="50636" y="822540"/>
                  </a:lnTo>
                  <a:lnTo>
                    <a:pt x="82905" y="829056"/>
                  </a:lnTo>
                  <a:lnTo>
                    <a:pt x="6618122" y="829056"/>
                  </a:lnTo>
                  <a:lnTo>
                    <a:pt x="6650391" y="822540"/>
                  </a:lnTo>
                  <a:lnTo>
                    <a:pt x="6676744" y="804772"/>
                  </a:lnTo>
                  <a:lnTo>
                    <a:pt x="6694512" y="778419"/>
                  </a:lnTo>
                  <a:lnTo>
                    <a:pt x="6701028" y="746150"/>
                  </a:lnTo>
                  <a:lnTo>
                    <a:pt x="6701028" y="82905"/>
                  </a:lnTo>
                  <a:lnTo>
                    <a:pt x="6694512" y="50636"/>
                  </a:lnTo>
                  <a:lnTo>
                    <a:pt x="6676744" y="24283"/>
                  </a:lnTo>
                  <a:lnTo>
                    <a:pt x="6650391" y="6515"/>
                  </a:lnTo>
                  <a:lnTo>
                    <a:pt x="6618122" y="0"/>
                  </a:lnTo>
                  <a:close/>
                </a:path>
              </a:pathLst>
            </a:custGeom>
            <a:solidFill>
              <a:srgbClr val="E2EDFC">
                <a:alpha val="3411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5866" y="3600831"/>
              <a:ext cx="6701155" cy="829310"/>
            </a:xfrm>
            <a:custGeom>
              <a:avLst/>
              <a:gdLst/>
              <a:ahLst/>
              <a:cxnLst/>
              <a:rect l="l" t="t" r="r" b="b"/>
              <a:pathLst>
                <a:path w="6701155" h="829310">
                  <a:moveTo>
                    <a:pt x="0" y="82905"/>
                  </a:moveTo>
                  <a:lnTo>
                    <a:pt x="6515" y="50636"/>
                  </a:lnTo>
                  <a:lnTo>
                    <a:pt x="24283" y="24283"/>
                  </a:lnTo>
                  <a:lnTo>
                    <a:pt x="50636" y="6515"/>
                  </a:lnTo>
                  <a:lnTo>
                    <a:pt x="82905" y="0"/>
                  </a:lnTo>
                  <a:lnTo>
                    <a:pt x="6618122" y="0"/>
                  </a:lnTo>
                  <a:lnTo>
                    <a:pt x="6650391" y="6515"/>
                  </a:lnTo>
                  <a:lnTo>
                    <a:pt x="6676744" y="24283"/>
                  </a:lnTo>
                  <a:lnTo>
                    <a:pt x="6694512" y="50636"/>
                  </a:lnTo>
                  <a:lnTo>
                    <a:pt x="6701028" y="82905"/>
                  </a:lnTo>
                  <a:lnTo>
                    <a:pt x="6701028" y="746150"/>
                  </a:lnTo>
                  <a:lnTo>
                    <a:pt x="6694512" y="778419"/>
                  </a:lnTo>
                  <a:lnTo>
                    <a:pt x="6676744" y="804772"/>
                  </a:lnTo>
                  <a:lnTo>
                    <a:pt x="6650391" y="822540"/>
                  </a:lnTo>
                  <a:lnTo>
                    <a:pt x="6618122" y="829056"/>
                  </a:lnTo>
                  <a:lnTo>
                    <a:pt x="82905" y="829056"/>
                  </a:lnTo>
                  <a:lnTo>
                    <a:pt x="50636" y="822540"/>
                  </a:lnTo>
                  <a:lnTo>
                    <a:pt x="24283" y="804772"/>
                  </a:lnTo>
                  <a:lnTo>
                    <a:pt x="6515" y="778419"/>
                  </a:lnTo>
                  <a:lnTo>
                    <a:pt x="0" y="746150"/>
                  </a:lnTo>
                  <a:lnTo>
                    <a:pt x="0" y="82905"/>
                  </a:lnTo>
                  <a:close/>
                </a:path>
              </a:pathLst>
            </a:custGeom>
            <a:ln w="19049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46500" y="4544951"/>
              <a:ext cx="6701155" cy="828675"/>
            </a:xfrm>
            <a:custGeom>
              <a:avLst/>
              <a:gdLst/>
              <a:ahLst/>
              <a:cxnLst/>
              <a:rect l="l" t="t" r="r" b="b"/>
              <a:pathLst>
                <a:path w="6701155" h="828675">
                  <a:moveTo>
                    <a:pt x="6618198" y="0"/>
                  </a:moveTo>
                  <a:lnTo>
                    <a:pt x="82829" y="0"/>
                  </a:lnTo>
                  <a:lnTo>
                    <a:pt x="50588" y="6509"/>
                  </a:lnTo>
                  <a:lnTo>
                    <a:pt x="24260" y="24260"/>
                  </a:lnTo>
                  <a:lnTo>
                    <a:pt x="6509" y="50588"/>
                  </a:lnTo>
                  <a:lnTo>
                    <a:pt x="0" y="82829"/>
                  </a:lnTo>
                  <a:lnTo>
                    <a:pt x="0" y="745464"/>
                  </a:lnTo>
                  <a:lnTo>
                    <a:pt x="6509" y="777705"/>
                  </a:lnTo>
                  <a:lnTo>
                    <a:pt x="24260" y="804033"/>
                  </a:lnTo>
                  <a:lnTo>
                    <a:pt x="50588" y="821784"/>
                  </a:lnTo>
                  <a:lnTo>
                    <a:pt x="82829" y="828294"/>
                  </a:lnTo>
                  <a:lnTo>
                    <a:pt x="6618198" y="828294"/>
                  </a:lnTo>
                  <a:lnTo>
                    <a:pt x="6650439" y="821784"/>
                  </a:lnTo>
                  <a:lnTo>
                    <a:pt x="6676767" y="804033"/>
                  </a:lnTo>
                  <a:lnTo>
                    <a:pt x="6694518" y="777705"/>
                  </a:lnTo>
                  <a:lnTo>
                    <a:pt x="6701028" y="745464"/>
                  </a:lnTo>
                  <a:lnTo>
                    <a:pt x="6701028" y="82829"/>
                  </a:lnTo>
                  <a:lnTo>
                    <a:pt x="6694518" y="50588"/>
                  </a:lnTo>
                  <a:lnTo>
                    <a:pt x="6676767" y="24260"/>
                  </a:lnTo>
                  <a:lnTo>
                    <a:pt x="6650439" y="6509"/>
                  </a:lnTo>
                  <a:lnTo>
                    <a:pt x="6618198" y="0"/>
                  </a:lnTo>
                  <a:close/>
                </a:path>
              </a:pathLst>
            </a:custGeom>
            <a:solidFill>
              <a:srgbClr val="E2EDFC">
                <a:alpha val="3411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46500" y="4544951"/>
              <a:ext cx="6701155" cy="828675"/>
            </a:xfrm>
            <a:custGeom>
              <a:avLst/>
              <a:gdLst/>
              <a:ahLst/>
              <a:cxnLst/>
              <a:rect l="l" t="t" r="r" b="b"/>
              <a:pathLst>
                <a:path w="6701155" h="828675">
                  <a:moveTo>
                    <a:pt x="0" y="82829"/>
                  </a:moveTo>
                  <a:lnTo>
                    <a:pt x="6509" y="50588"/>
                  </a:lnTo>
                  <a:lnTo>
                    <a:pt x="24260" y="24260"/>
                  </a:lnTo>
                  <a:lnTo>
                    <a:pt x="50588" y="6509"/>
                  </a:lnTo>
                  <a:lnTo>
                    <a:pt x="82829" y="0"/>
                  </a:lnTo>
                  <a:lnTo>
                    <a:pt x="6618198" y="0"/>
                  </a:lnTo>
                  <a:lnTo>
                    <a:pt x="6650439" y="6509"/>
                  </a:lnTo>
                  <a:lnTo>
                    <a:pt x="6676767" y="24260"/>
                  </a:lnTo>
                  <a:lnTo>
                    <a:pt x="6694518" y="50588"/>
                  </a:lnTo>
                  <a:lnTo>
                    <a:pt x="6701028" y="82829"/>
                  </a:lnTo>
                  <a:lnTo>
                    <a:pt x="6701028" y="745464"/>
                  </a:lnTo>
                  <a:lnTo>
                    <a:pt x="6694518" y="777705"/>
                  </a:lnTo>
                  <a:lnTo>
                    <a:pt x="6676767" y="804033"/>
                  </a:lnTo>
                  <a:lnTo>
                    <a:pt x="6650439" y="821784"/>
                  </a:lnTo>
                  <a:lnTo>
                    <a:pt x="6618198" y="828294"/>
                  </a:lnTo>
                  <a:lnTo>
                    <a:pt x="82829" y="828294"/>
                  </a:lnTo>
                  <a:lnTo>
                    <a:pt x="50588" y="821784"/>
                  </a:lnTo>
                  <a:lnTo>
                    <a:pt x="24260" y="804033"/>
                  </a:lnTo>
                  <a:lnTo>
                    <a:pt x="6509" y="777705"/>
                  </a:lnTo>
                  <a:lnTo>
                    <a:pt x="0" y="745464"/>
                  </a:lnTo>
                  <a:lnTo>
                    <a:pt x="0" y="82829"/>
                  </a:lnTo>
                  <a:close/>
                </a:path>
              </a:pathLst>
            </a:custGeom>
            <a:ln w="1905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46372" y="5488307"/>
              <a:ext cx="6701155" cy="828675"/>
            </a:xfrm>
            <a:custGeom>
              <a:avLst/>
              <a:gdLst/>
              <a:ahLst/>
              <a:cxnLst/>
              <a:rect l="l" t="t" r="r" b="b"/>
              <a:pathLst>
                <a:path w="6701155" h="828675">
                  <a:moveTo>
                    <a:pt x="6618198" y="0"/>
                  </a:moveTo>
                  <a:lnTo>
                    <a:pt x="82829" y="0"/>
                  </a:lnTo>
                  <a:lnTo>
                    <a:pt x="50588" y="6509"/>
                  </a:lnTo>
                  <a:lnTo>
                    <a:pt x="24260" y="24260"/>
                  </a:lnTo>
                  <a:lnTo>
                    <a:pt x="6509" y="50588"/>
                  </a:lnTo>
                  <a:lnTo>
                    <a:pt x="0" y="82829"/>
                  </a:lnTo>
                  <a:lnTo>
                    <a:pt x="0" y="745464"/>
                  </a:lnTo>
                  <a:lnTo>
                    <a:pt x="6509" y="777705"/>
                  </a:lnTo>
                  <a:lnTo>
                    <a:pt x="24260" y="804033"/>
                  </a:lnTo>
                  <a:lnTo>
                    <a:pt x="50588" y="821784"/>
                  </a:lnTo>
                  <a:lnTo>
                    <a:pt x="82829" y="828294"/>
                  </a:lnTo>
                  <a:lnTo>
                    <a:pt x="6618198" y="828294"/>
                  </a:lnTo>
                  <a:lnTo>
                    <a:pt x="6650439" y="821784"/>
                  </a:lnTo>
                  <a:lnTo>
                    <a:pt x="6676767" y="804033"/>
                  </a:lnTo>
                  <a:lnTo>
                    <a:pt x="6694518" y="777705"/>
                  </a:lnTo>
                  <a:lnTo>
                    <a:pt x="6701028" y="745464"/>
                  </a:lnTo>
                  <a:lnTo>
                    <a:pt x="6701028" y="82829"/>
                  </a:lnTo>
                  <a:lnTo>
                    <a:pt x="6694518" y="50588"/>
                  </a:lnTo>
                  <a:lnTo>
                    <a:pt x="6676767" y="24260"/>
                  </a:lnTo>
                  <a:lnTo>
                    <a:pt x="6650439" y="6509"/>
                  </a:lnTo>
                  <a:lnTo>
                    <a:pt x="6618198" y="0"/>
                  </a:lnTo>
                  <a:close/>
                </a:path>
              </a:pathLst>
            </a:custGeom>
            <a:solidFill>
              <a:srgbClr val="E2EDFC">
                <a:alpha val="3411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46372" y="5488307"/>
              <a:ext cx="6701155" cy="828675"/>
            </a:xfrm>
            <a:custGeom>
              <a:avLst/>
              <a:gdLst/>
              <a:ahLst/>
              <a:cxnLst/>
              <a:rect l="l" t="t" r="r" b="b"/>
              <a:pathLst>
                <a:path w="6701155" h="828675">
                  <a:moveTo>
                    <a:pt x="0" y="82829"/>
                  </a:moveTo>
                  <a:lnTo>
                    <a:pt x="6509" y="50588"/>
                  </a:lnTo>
                  <a:lnTo>
                    <a:pt x="24260" y="24260"/>
                  </a:lnTo>
                  <a:lnTo>
                    <a:pt x="50588" y="6509"/>
                  </a:lnTo>
                  <a:lnTo>
                    <a:pt x="82829" y="0"/>
                  </a:lnTo>
                  <a:lnTo>
                    <a:pt x="6618198" y="0"/>
                  </a:lnTo>
                  <a:lnTo>
                    <a:pt x="6650439" y="6509"/>
                  </a:lnTo>
                  <a:lnTo>
                    <a:pt x="6676767" y="24260"/>
                  </a:lnTo>
                  <a:lnTo>
                    <a:pt x="6694518" y="50588"/>
                  </a:lnTo>
                  <a:lnTo>
                    <a:pt x="6701028" y="82829"/>
                  </a:lnTo>
                  <a:lnTo>
                    <a:pt x="6701028" y="745464"/>
                  </a:lnTo>
                  <a:lnTo>
                    <a:pt x="6694518" y="777705"/>
                  </a:lnTo>
                  <a:lnTo>
                    <a:pt x="6676767" y="804033"/>
                  </a:lnTo>
                  <a:lnTo>
                    <a:pt x="6650439" y="821784"/>
                  </a:lnTo>
                  <a:lnTo>
                    <a:pt x="6618198" y="828294"/>
                  </a:lnTo>
                  <a:lnTo>
                    <a:pt x="82829" y="828294"/>
                  </a:lnTo>
                  <a:lnTo>
                    <a:pt x="50588" y="821784"/>
                  </a:lnTo>
                  <a:lnTo>
                    <a:pt x="24260" y="804033"/>
                  </a:lnTo>
                  <a:lnTo>
                    <a:pt x="6509" y="777705"/>
                  </a:lnTo>
                  <a:lnTo>
                    <a:pt x="0" y="745464"/>
                  </a:lnTo>
                  <a:lnTo>
                    <a:pt x="0" y="82829"/>
                  </a:lnTo>
                  <a:close/>
                </a:path>
              </a:pathLst>
            </a:custGeom>
            <a:ln w="1905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37410" y="1188740"/>
            <a:ext cx="270425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Этапы</a:t>
            </a:r>
            <a:r>
              <a:rPr sz="2400" b="1" spc="-7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400" b="1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реализации</a:t>
            </a:r>
            <a:endParaRPr sz="2400" dirty="0">
              <a:latin typeface="HSE Sans" panose="02000000000000000000" pitchFamily="50" charset="0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29302" y="2287650"/>
            <a:ext cx="2059305" cy="3384550"/>
            <a:chOff x="7898130" y="2309622"/>
            <a:chExt cx="2059305" cy="3384550"/>
          </a:xfrm>
        </p:grpSpPr>
        <p:sp>
          <p:nvSpPr>
            <p:cNvPr id="21" name="object 21"/>
            <p:cNvSpPr/>
            <p:nvPr/>
          </p:nvSpPr>
          <p:spPr>
            <a:xfrm>
              <a:off x="7907655" y="2319147"/>
              <a:ext cx="538480" cy="539115"/>
            </a:xfrm>
            <a:custGeom>
              <a:avLst/>
              <a:gdLst/>
              <a:ahLst/>
              <a:cxnLst/>
              <a:rect l="l" t="t" r="r" b="b"/>
              <a:pathLst>
                <a:path w="538479" h="539114">
                  <a:moveTo>
                    <a:pt x="416928" y="0"/>
                  </a:moveTo>
                  <a:lnTo>
                    <a:pt x="121043" y="0"/>
                  </a:lnTo>
                  <a:lnTo>
                    <a:pt x="121043" y="296646"/>
                  </a:lnTo>
                  <a:lnTo>
                    <a:pt x="0" y="296646"/>
                  </a:lnTo>
                  <a:lnTo>
                    <a:pt x="268986" y="538734"/>
                  </a:lnTo>
                  <a:lnTo>
                    <a:pt x="537972" y="296646"/>
                  </a:lnTo>
                  <a:lnTo>
                    <a:pt x="416928" y="296646"/>
                  </a:lnTo>
                  <a:lnTo>
                    <a:pt x="416928" y="0"/>
                  </a:lnTo>
                  <a:close/>
                </a:path>
              </a:pathLst>
            </a:custGeom>
            <a:solidFill>
              <a:srgbClr val="0F2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07655" y="2319147"/>
              <a:ext cx="538480" cy="539115"/>
            </a:xfrm>
            <a:custGeom>
              <a:avLst/>
              <a:gdLst/>
              <a:ahLst/>
              <a:cxnLst/>
              <a:rect l="l" t="t" r="r" b="b"/>
              <a:pathLst>
                <a:path w="538479" h="539114">
                  <a:moveTo>
                    <a:pt x="0" y="296646"/>
                  </a:moveTo>
                  <a:lnTo>
                    <a:pt x="121043" y="296646"/>
                  </a:lnTo>
                  <a:lnTo>
                    <a:pt x="121043" y="0"/>
                  </a:lnTo>
                  <a:lnTo>
                    <a:pt x="416928" y="0"/>
                  </a:lnTo>
                  <a:lnTo>
                    <a:pt x="416928" y="296646"/>
                  </a:lnTo>
                  <a:lnTo>
                    <a:pt x="537972" y="296646"/>
                  </a:lnTo>
                  <a:lnTo>
                    <a:pt x="268986" y="538734"/>
                  </a:lnTo>
                  <a:lnTo>
                    <a:pt x="0" y="296646"/>
                  </a:lnTo>
                  <a:close/>
                </a:path>
              </a:pathLst>
            </a:custGeom>
            <a:ln w="1905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07527" y="326250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17512" y="0"/>
                  </a:moveTo>
                  <a:lnTo>
                    <a:pt x="121208" y="0"/>
                  </a:lnTo>
                  <a:lnTo>
                    <a:pt x="121208" y="296303"/>
                  </a:lnTo>
                  <a:lnTo>
                    <a:pt x="0" y="296303"/>
                  </a:lnTo>
                  <a:lnTo>
                    <a:pt x="269367" y="538734"/>
                  </a:lnTo>
                  <a:lnTo>
                    <a:pt x="538734" y="296303"/>
                  </a:lnTo>
                  <a:lnTo>
                    <a:pt x="417512" y="296303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F2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07527" y="326250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296303"/>
                  </a:moveTo>
                  <a:lnTo>
                    <a:pt x="121208" y="296303"/>
                  </a:lnTo>
                  <a:lnTo>
                    <a:pt x="121208" y="0"/>
                  </a:lnTo>
                  <a:lnTo>
                    <a:pt x="417512" y="0"/>
                  </a:lnTo>
                  <a:lnTo>
                    <a:pt x="417512" y="296303"/>
                  </a:lnTo>
                  <a:lnTo>
                    <a:pt x="538734" y="296303"/>
                  </a:lnTo>
                  <a:lnTo>
                    <a:pt x="269367" y="538734"/>
                  </a:lnTo>
                  <a:lnTo>
                    <a:pt x="0" y="296303"/>
                  </a:lnTo>
                  <a:close/>
                </a:path>
              </a:pathLst>
            </a:custGeom>
            <a:ln w="1905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08161" y="419214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17512" y="0"/>
                  </a:moveTo>
                  <a:lnTo>
                    <a:pt x="121208" y="0"/>
                  </a:lnTo>
                  <a:lnTo>
                    <a:pt x="121208" y="296303"/>
                  </a:lnTo>
                  <a:lnTo>
                    <a:pt x="0" y="296303"/>
                  </a:lnTo>
                  <a:lnTo>
                    <a:pt x="269367" y="538733"/>
                  </a:lnTo>
                  <a:lnTo>
                    <a:pt x="538734" y="296303"/>
                  </a:lnTo>
                  <a:lnTo>
                    <a:pt x="417512" y="296303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F2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08161" y="4192142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296303"/>
                  </a:moveTo>
                  <a:lnTo>
                    <a:pt x="121208" y="296303"/>
                  </a:lnTo>
                  <a:lnTo>
                    <a:pt x="121208" y="0"/>
                  </a:lnTo>
                  <a:lnTo>
                    <a:pt x="417512" y="0"/>
                  </a:lnTo>
                  <a:lnTo>
                    <a:pt x="417512" y="296303"/>
                  </a:lnTo>
                  <a:lnTo>
                    <a:pt x="538734" y="296303"/>
                  </a:lnTo>
                  <a:lnTo>
                    <a:pt x="269367" y="538733"/>
                  </a:lnTo>
                  <a:lnTo>
                    <a:pt x="0" y="296303"/>
                  </a:lnTo>
                  <a:close/>
                </a:path>
              </a:pathLst>
            </a:custGeom>
            <a:ln w="1905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408795" y="5145404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417512" y="0"/>
                  </a:moveTo>
                  <a:lnTo>
                    <a:pt x="121208" y="0"/>
                  </a:lnTo>
                  <a:lnTo>
                    <a:pt x="121208" y="296303"/>
                  </a:lnTo>
                  <a:lnTo>
                    <a:pt x="0" y="296303"/>
                  </a:lnTo>
                  <a:lnTo>
                    <a:pt x="269367" y="538734"/>
                  </a:lnTo>
                  <a:lnTo>
                    <a:pt x="538734" y="296303"/>
                  </a:lnTo>
                  <a:lnTo>
                    <a:pt x="417512" y="296303"/>
                  </a:lnTo>
                  <a:lnTo>
                    <a:pt x="417512" y="0"/>
                  </a:lnTo>
                  <a:close/>
                </a:path>
              </a:pathLst>
            </a:custGeom>
            <a:solidFill>
              <a:srgbClr val="0F2C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408794" y="5145404"/>
              <a:ext cx="539115" cy="539115"/>
            </a:xfrm>
            <a:custGeom>
              <a:avLst/>
              <a:gdLst/>
              <a:ahLst/>
              <a:cxnLst/>
              <a:rect l="l" t="t" r="r" b="b"/>
              <a:pathLst>
                <a:path w="539115" h="539114">
                  <a:moveTo>
                    <a:pt x="0" y="296303"/>
                  </a:moveTo>
                  <a:lnTo>
                    <a:pt x="121208" y="296303"/>
                  </a:lnTo>
                  <a:lnTo>
                    <a:pt x="121208" y="0"/>
                  </a:lnTo>
                  <a:lnTo>
                    <a:pt x="417512" y="0"/>
                  </a:lnTo>
                  <a:lnTo>
                    <a:pt x="417512" y="296303"/>
                  </a:lnTo>
                  <a:lnTo>
                    <a:pt x="538734" y="296303"/>
                  </a:lnTo>
                  <a:lnTo>
                    <a:pt x="269367" y="538734"/>
                  </a:lnTo>
                  <a:lnTo>
                    <a:pt x="0" y="296303"/>
                  </a:lnTo>
                  <a:close/>
                </a:path>
              </a:pathLst>
            </a:custGeom>
            <a:ln w="19050">
              <a:solidFill>
                <a:srgbClr val="0F2C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Google Shape;190;p3">
            <a:extLst>
              <a:ext uri="{FF2B5EF4-FFF2-40B4-BE49-F238E27FC236}">
                <a16:creationId xmlns:a16="http://schemas.microsoft.com/office/drawing/2014/main" id="{F3374547-DC5D-2D3F-8619-6613C4C7ACE7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30" name="Google Shape;191;p3">
            <a:extLst>
              <a:ext uri="{FF2B5EF4-FFF2-40B4-BE49-F238E27FC236}">
                <a16:creationId xmlns:a16="http://schemas.microsoft.com/office/drawing/2014/main" id="{6CC99F82-CD8D-F80F-1BEC-611DC7E505C4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31" name="Google Shape;193;p3">
            <a:extLst>
              <a:ext uri="{FF2B5EF4-FFF2-40B4-BE49-F238E27FC236}">
                <a16:creationId xmlns:a16="http://schemas.microsoft.com/office/drawing/2014/main" id="{3DC527AE-A68D-3B47-6E1B-8F96FA8D7E67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A4C9F839-A383-07A9-0383-BCF981F64EEA}"/>
              </a:ext>
            </a:extLst>
          </p:cNvPr>
          <p:cNvSpPr txBox="1"/>
          <p:nvPr/>
        </p:nvSpPr>
        <p:spPr>
          <a:xfrm>
            <a:off x="1597964" y="1834011"/>
            <a:ext cx="646074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l">
              <a:spcBef>
                <a:spcPts val="1025"/>
              </a:spcBef>
              <a:tabLst>
                <a:tab pos="297815" algn="l"/>
              </a:tabLst>
            </a:pP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Анализ и выбор подходящих существующих методов верификации, ПО и </a:t>
            </a:r>
            <a:r>
              <a:rPr lang="en-US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open-source </a:t>
            </a: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ядер (цифровых блоков)</a:t>
            </a:r>
            <a:endParaRPr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76A62527-D7B9-0F3D-1811-07A12E274235}"/>
              </a:ext>
            </a:extLst>
          </p:cNvPr>
          <p:cNvSpPr txBox="1"/>
          <p:nvPr/>
        </p:nvSpPr>
        <p:spPr>
          <a:xfrm>
            <a:off x="2229446" y="2777814"/>
            <a:ext cx="646074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l">
              <a:spcBef>
                <a:spcPts val="1025"/>
              </a:spcBef>
              <a:tabLst>
                <a:tab pos="297815" algn="l"/>
              </a:tabLst>
            </a:pP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Подготовка теоретической части ЛР, доработка </a:t>
            </a:r>
            <a:r>
              <a:rPr lang="en-US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</a:t>
            </a: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выбранных ядер</a:t>
            </a:r>
            <a:endParaRPr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2" name="object 6">
            <a:extLst>
              <a:ext uri="{FF2B5EF4-FFF2-40B4-BE49-F238E27FC236}">
                <a16:creationId xmlns:a16="http://schemas.microsoft.com/office/drawing/2014/main" id="{36FEB618-F814-18A7-339E-8C793E793E69}"/>
              </a:ext>
            </a:extLst>
          </p:cNvPr>
          <p:cNvSpPr txBox="1"/>
          <p:nvPr/>
        </p:nvSpPr>
        <p:spPr>
          <a:xfrm>
            <a:off x="2749941" y="3721486"/>
            <a:ext cx="657694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l">
              <a:spcBef>
                <a:spcPts val="1025"/>
              </a:spcBef>
              <a:tabLst>
                <a:tab pos="297815" algn="l"/>
              </a:tabLst>
            </a:pP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Подготовка заданий и указаний для выполнения ЛР, разработка верификационного окружения цифровых блоков</a:t>
            </a:r>
            <a:endParaRPr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3" name="object 6">
            <a:extLst>
              <a:ext uri="{FF2B5EF4-FFF2-40B4-BE49-F238E27FC236}">
                <a16:creationId xmlns:a16="http://schemas.microsoft.com/office/drawing/2014/main" id="{F0FA55FC-B1AE-C022-6EBB-33D546D138AF}"/>
              </a:ext>
            </a:extLst>
          </p:cNvPr>
          <p:cNvSpPr txBox="1"/>
          <p:nvPr/>
        </p:nvSpPr>
        <p:spPr>
          <a:xfrm>
            <a:off x="3146289" y="4665288"/>
            <a:ext cx="6810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l">
              <a:spcBef>
                <a:spcPts val="1025"/>
              </a:spcBef>
              <a:tabLst>
                <a:tab pos="297815" algn="l"/>
              </a:tabLst>
            </a:pP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 скриптов автоматического запуска верификационных сценариев, упорядочение кодового репозитория</a:t>
            </a:r>
            <a:endParaRPr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4" name="object 6">
            <a:extLst>
              <a:ext uri="{FF2B5EF4-FFF2-40B4-BE49-F238E27FC236}">
                <a16:creationId xmlns:a16="http://schemas.microsoft.com/office/drawing/2014/main" id="{261909C8-3569-2CE8-B58D-34A1FF035756}"/>
              </a:ext>
            </a:extLst>
          </p:cNvPr>
          <p:cNvSpPr txBox="1"/>
          <p:nvPr/>
        </p:nvSpPr>
        <p:spPr>
          <a:xfrm>
            <a:off x="3741663" y="5621792"/>
            <a:ext cx="6810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l">
              <a:spcBef>
                <a:spcPts val="1025"/>
              </a:spcBef>
              <a:tabLst>
                <a:tab pos="297815" algn="l"/>
              </a:tabLst>
            </a:pPr>
            <a:r>
              <a:rPr lang="ru-RU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Доработка методических материалов, приведение к виду полноценных лабораторных работ</a:t>
            </a:r>
            <a:endParaRPr dirty="0"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A381-10D0-F4DB-E57F-99FCF85E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2D4E9F-098D-6156-60FC-7CD95C736319}"/>
              </a:ext>
            </a:extLst>
          </p:cNvPr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8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23A6DF4-9281-B054-F74F-10DEDBDD46B8}"/>
              </a:ext>
            </a:extLst>
          </p:cNvPr>
          <p:cNvSpPr txBox="1"/>
          <p:nvPr/>
        </p:nvSpPr>
        <p:spPr>
          <a:xfrm>
            <a:off x="1037410" y="1752600"/>
            <a:ext cx="10316390" cy="4898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880"/>
              </a:spcBef>
            </a:pPr>
            <a:r>
              <a:rPr lang="ru-RU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Добротин</a:t>
            </a:r>
            <a:r>
              <a:rPr lang="ru-RU" b="1" spc="-1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Арсений</a:t>
            </a:r>
          </a:p>
          <a:p>
            <a:pPr algn="l">
              <a:lnSpc>
                <a:spcPct val="100000"/>
              </a:lnSpc>
              <a:spcBef>
                <a:spcPts val="880"/>
              </a:spcBef>
            </a:pP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Роль: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нженер</a:t>
            </a:r>
            <a:r>
              <a:rPr lang="ru-RU" sz="1400" spc="-8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2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по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верификации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Ступень: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магистр, 1 курс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Программа: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Интернет вещей и </a:t>
            </a:r>
            <a:r>
              <a:rPr lang="ru-RU" sz="1400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киберфиз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. системы 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Часы: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155 ч.</a:t>
            </a:r>
          </a:p>
          <a:p>
            <a:pPr marL="285750" indent="-285750" algn="l">
              <a:lnSpc>
                <a:spcPct val="100000"/>
              </a:lnSpc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Разработал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 верификационное окружение ядер АЛУ-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743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8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2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, таймера и периферии на шине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APB</a:t>
            </a:r>
            <a:endParaRPr lang="ru-RU" sz="1600" spc="-1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  <a:p>
            <a:pPr marL="285750" indent="-285750" algn="l"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Интегрировал модуль периферии в дизайн с процессором </a:t>
            </a:r>
            <a:r>
              <a:rPr lang="en-US" sz="1600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biRISC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-V</a:t>
            </a:r>
            <a:br>
              <a:rPr lang="ru-RU"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</a:br>
            <a:endParaRPr lang="ru-RU" sz="1500" b="1" spc="-1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880"/>
              </a:spcBef>
            </a:pPr>
            <a:r>
              <a:rPr lang="ru-RU" b="1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Тарало</a:t>
            </a:r>
            <a:r>
              <a:rPr lang="ru-RU" b="1" spc="-9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b="1" spc="-2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Антон</a:t>
            </a:r>
          </a:p>
          <a:p>
            <a:pPr algn="l">
              <a:lnSpc>
                <a:spcPct val="100000"/>
              </a:lnSpc>
              <a:spcBef>
                <a:spcPts val="880"/>
              </a:spcBef>
            </a:pP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Роль: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нженер</a:t>
            </a:r>
            <a:r>
              <a:rPr lang="ru-RU" sz="1400" spc="-8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2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по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верификации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Ступень: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магистр, 1 курс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Программа: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Интернет вещей и </a:t>
            </a:r>
            <a:r>
              <a:rPr lang="ru-RU" sz="1400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киберфиз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. системы 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Часы: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191 ч.</a:t>
            </a:r>
          </a:p>
          <a:p>
            <a:pPr marL="285750" indent="-285750" algn="l">
              <a:lnSpc>
                <a:spcPct val="100000"/>
              </a:lnSpc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Разработал RTL и верификационное окружение ядер АЛУ-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743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81,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таймера реального времени и обёртки периферии на шин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AXI-Lite</a:t>
            </a:r>
            <a:endParaRPr lang="ru-RU" sz="1600" spc="-1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  <a:p>
            <a:pPr marL="285750" indent="-285750" algn="l">
              <a:lnSpc>
                <a:spcPct val="100000"/>
              </a:lnSpc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Проводил тестирование ядер на платах с ПЛИС (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FPGA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)</a:t>
            </a:r>
            <a:br>
              <a:rPr lang="ru-RU" sz="15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</a:br>
            <a:endParaRPr lang="ru-RU" sz="150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880"/>
              </a:spcBef>
            </a:pPr>
            <a:r>
              <a:rPr lang="ru-RU" b="1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Карамнов</a:t>
            </a:r>
            <a:r>
              <a:rPr lang="ru-RU" b="1" spc="-6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Максим</a:t>
            </a:r>
          </a:p>
          <a:p>
            <a:pPr algn="l">
              <a:lnSpc>
                <a:spcPct val="100000"/>
              </a:lnSpc>
              <a:spcBef>
                <a:spcPts val="880"/>
              </a:spcBef>
            </a:pP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Роль: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lang="ru-RU" sz="1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нженер</a:t>
            </a:r>
            <a:r>
              <a:rPr lang="ru-RU" sz="1400" spc="-8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2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по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верификации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Ступень: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бакалавр, 4 курс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Программа: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Информационная безопасность  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Часы: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90 ч.</a:t>
            </a:r>
          </a:p>
          <a:p>
            <a:pPr marL="285750" indent="-285750" algn="l">
              <a:lnSpc>
                <a:spcPct val="100000"/>
              </a:lnSpc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Разработал виртуальные платы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DE10-LITE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,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DE2-115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и интеграционные тесты для RTL-процессора </a:t>
            </a:r>
            <a:r>
              <a:rPr lang="ru-RU" sz="1600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biRISC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-V</a:t>
            </a:r>
          </a:p>
          <a:p>
            <a:pPr algn="l">
              <a:lnSpc>
                <a:spcPct val="100000"/>
              </a:lnSpc>
              <a:spcBef>
                <a:spcPts val="880"/>
              </a:spcBef>
            </a:pPr>
            <a:endParaRPr lang="ru-RU" sz="1500" spc="-1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1" name="Google Shape;190;p3">
            <a:extLst>
              <a:ext uri="{FF2B5EF4-FFF2-40B4-BE49-F238E27FC236}">
                <a16:creationId xmlns:a16="http://schemas.microsoft.com/office/drawing/2014/main" id="{04875990-B318-2EB6-1BDF-39DFBFCDF063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32" name="Google Shape;191;p3">
            <a:extLst>
              <a:ext uri="{FF2B5EF4-FFF2-40B4-BE49-F238E27FC236}">
                <a16:creationId xmlns:a16="http://schemas.microsoft.com/office/drawing/2014/main" id="{F663E2C1-C7E0-8DED-D7BE-087F212AFEE9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33" name="Google Shape;193;p3">
            <a:extLst>
              <a:ext uri="{FF2B5EF4-FFF2-40B4-BE49-F238E27FC236}">
                <a16:creationId xmlns:a16="http://schemas.microsoft.com/office/drawing/2014/main" id="{21C48991-CA4F-33A4-635A-B02714A44555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4" name="object 19">
            <a:extLst>
              <a:ext uri="{FF2B5EF4-FFF2-40B4-BE49-F238E27FC236}">
                <a16:creationId xmlns:a16="http://schemas.microsoft.com/office/drawing/2014/main" id="{3C68B953-E0CB-78E3-D6DA-876BFA2022F3}"/>
              </a:ext>
            </a:extLst>
          </p:cNvPr>
          <p:cNvSpPr txBox="1"/>
          <p:nvPr/>
        </p:nvSpPr>
        <p:spPr>
          <a:xfrm>
            <a:off x="1037410" y="1188740"/>
            <a:ext cx="61253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Задачи, выполненные участниками проекта</a:t>
            </a:r>
            <a:endParaRPr sz="2400" dirty="0">
              <a:latin typeface="HSE Sans" panose="02000000000000000000" pitchFamily="50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2444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A381-10D0-F4DB-E57F-99FCF85E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2D4E9F-098D-6156-60FC-7CD95C736319}"/>
              </a:ext>
            </a:extLst>
          </p:cNvPr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8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23A6DF4-9281-B054-F74F-10DEDBDD46B8}"/>
              </a:ext>
            </a:extLst>
          </p:cNvPr>
          <p:cNvSpPr txBox="1"/>
          <p:nvPr/>
        </p:nvSpPr>
        <p:spPr>
          <a:xfrm>
            <a:off x="1037410" y="1802807"/>
            <a:ext cx="9706790" cy="4483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spcBef>
                <a:spcPts val="880"/>
              </a:spcBef>
            </a:pPr>
            <a:r>
              <a:rPr lang="ru-RU" b="1" spc="-4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Тен</a:t>
            </a:r>
            <a:r>
              <a:rPr lang="ru-RU" b="1" spc="-5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Владимир</a:t>
            </a:r>
          </a:p>
          <a:p>
            <a:pPr algn="l">
              <a:spcBef>
                <a:spcPts val="880"/>
              </a:spcBef>
            </a:pP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Роль: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системный программист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Ступень: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бакалавр, 3 курс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Программа: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Информационная безопасность 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Часы: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114 ч.</a:t>
            </a:r>
          </a:p>
          <a:p>
            <a:pPr marL="285750" indent="-285750" algn="l"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Разработал виртуальные стенды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DE10-LITE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,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DE2-115</a:t>
            </a:r>
            <a:b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</a:br>
            <a:endParaRPr lang="ru-RU" sz="1600" spc="-1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  <a:p>
            <a:pPr algn="l">
              <a:spcBef>
                <a:spcPts val="880"/>
              </a:spcBef>
            </a:pPr>
            <a:r>
              <a:rPr lang="ru-RU" b="1" spc="-4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Власов Иван</a:t>
            </a:r>
          </a:p>
          <a:p>
            <a:pPr algn="l">
              <a:spcBef>
                <a:spcPts val="880"/>
              </a:spcBef>
            </a:pP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Роль: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методист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Ступень: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бакалавр, 3 курс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Программа: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Информационная безопасность 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Часы: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84 ч.</a:t>
            </a:r>
          </a:p>
          <a:p>
            <a:pPr marL="285750" indent="-285750" algn="l"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Разработал руководство по программированию RISC-V, подготовил итоговую документацию</a:t>
            </a:r>
            <a:b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</a:br>
            <a:endParaRPr lang="ru-RU" sz="1600" b="1" spc="-1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  <a:p>
            <a:pPr algn="l">
              <a:spcBef>
                <a:spcPts val="880"/>
              </a:spcBef>
            </a:pPr>
            <a:r>
              <a:rPr lang="ru-RU" b="1" spc="-10" dirty="0" err="1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Домананова</a:t>
            </a:r>
            <a:r>
              <a:rPr lang="ru-RU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Валерия</a:t>
            </a:r>
          </a:p>
          <a:p>
            <a:pPr algn="l">
              <a:spcBef>
                <a:spcPts val="880"/>
              </a:spcBef>
            </a:pP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Роль: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методист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Ступень: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магистр, 2 курс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Программа: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Информационная безопасность и технологии ИИ </a:t>
            </a:r>
            <a:r>
              <a:rPr lang="en-US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| </a:t>
            </a:r>
            <a:r>
              <a:rPr lang="ru-RU" sz="1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Часы: </a:t>
            </a:r>
            <a:r>
              <a:rPr lang="ru-RU" sz="1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144 ч.</a:t>
            </a:r>
          </a:p>
          <a:p>
            <a:pPr marL="285750" indent="-285750" algn="l">
              <a:spcBef>
                <a:spcPts val="880"/>
              </a:spcBef>
              <a:buFont typeface="Arial" panose="020B0604020202020204" pitchFamily="34" charset="0"/>
              <a:buChar char="•"/>
            </a:pP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Разработала теоретическую часть ЛР-1  «Исследование, верификация АЛУ» (описание </a:t>
            </a:r>
            <a:r>
              <a:rPr lang="en-US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z="16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моделей CLA 74182 и 74182, АЛУ 74181, оформила методическое обеспечение по работе с моделями CLA 74182 и 74182, АЛУ 74181)</a:t>
            </a:r>
            <a:endParaRPr lang="ru-RU" sz="1600" dirty="0">
              <a:latin typeface="HSE Sans" panose="02000000000000000000" pitchFamily="50" charset="0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880"/>
              </a:spcBef>
            </a:pPr>
            <a:endParaRPr lang="ru-RU" sz="1500" spc="-10" dirty="0">
              <a:solidFill>
                <a:srgbClr val="0F2C68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1" name="Google Shape;190;p3">
            <a:extLst>
              <a:ext uri="{FF2B5EF4-FFF2-40B4-BE49-F238E27FC236}">
                <a16:creationId xmlns:a16="http://schemas.microsoft.com/office/drawing/2014/main" id="{04875990-B318-2EB6-1BDF-39DFBFCDF063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32" name="Google Shape;191;p3">
            <a:extLst>
              <a:ext uri="{FF2B5EF4-FFF2-40B4-BE49-F238E27FC236}">
                <a16:creationId xmlns:a16="http://schemas.microsoft.com/office/drawing/2014/main" id="{F663E2C1-C7E0-8DED-D7BE-087F212AFEE9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33" name="Google Shape;193;p3">
            <a:extLst>
              <a:ext uri="{FF2B5EF4-FFF2-40B4-BE49-F238E27FC236}">
                <a16:creationId xmlns:a16="http://schemas.microsoft.com/office/drawing/2014/main" id="{21C48991-CA4F-33A4-635A-B02714A44555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4" name="object 19">
            <a:extLst>
              <a:ext uri="{FF2B5EF4-FFF2-40B4-BE49-F238E27FC236}">
                <a16:creationId xmlns:a16="http://schemas.microsoft.com/office/drawing/2014/main" id="{3C68B953-E0CB-78E3-D6DA-876BFA2022F3}"/>
              </a:ext>
            </a:extLst>
          </p:cNvPr>
          <p:cNvSpPr txBox="1"/>
          <p:nvPr/>
        </p:nvSpPr>
        <p:spPr>
          <a:xfrm>
            <a:off x="1037410" y="1188740"/>
            <a:ext cx="61253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Задачи, выполненные участниками проекта</a:t>
            </a:r>
            <a:endParaRPr sz="2400" dirty="0">
              <a:latin typeface="HSE Sans" panose="02000000000000000000" pitchFamily="50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372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9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4503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4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3020" y="1415408"/>
            <a:ext cx="11047730" cy="3498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Полученные</a:t>
            </a:r>
            <a:r>
              <a:rPr sz="2400" b="1" spc="-13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результаты</a:t>
            </a:r>
            <a:endParaRPr sz="2400" dirty="0">
              <a:latin typeface="HSE Sans" panose="02000000000000000000" pitchFamily="50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400" dirty="0">
              <a:latin typeface="HSE Sans" panose="02000000000000000000" pitchFamily="50" charset="0"/>
              <a:cs typeface="Calibri"/>
            </a:endParaRPr>
          </a:p>
          <a:p>
            <a:pPr marL="297815" marR="5080" indent="-285750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lang="ru-RU" sz="22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Учебно-методические материалы по </a:t>
            </a:r>
            <a:r>
              <a:rPr lang="ru-RU"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sz="22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процессорного</a:t>
            </a:r>
            <a:r>
              <a:rPr lang="ru-RU" sz="20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ядра </a:t>
            </a:r>
            <a:r>
              <a:rPr sz="22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sz="22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 </a:t>
            </a:r>
            <a:r>
              <a:rPr lang="ru-RU"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(описание теоретической и практической частей лабораторных работ)</a:t>
            </a:r>
            <a:br>
              <a:rPr lang="ru-RU"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endParaRPr lang="ru-RU" sz="2200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297815" marR="5080" indent="-285750">
              <a:buFont typeface="Arial MT"/>
              <a:buChar char="•"/>
              <a:tabLst>
                <a:tab pos="297815" algn="l"/>
              </a:tabLst>
            </a:pPr>
            <a:r>
              <a:rPr lang="en-US" sz="22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</a:t>
            </a:r>
            <a:r>
              <a:rPr lang="ru-RU" sz="22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-описания, верификационные окружения и скрипты для запуска цифровых ядер, используемых в лабораторных работах</a:t>
            </a:r>
            <a:br>
              <a:rPr lang="ru-RU" sz="22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endParaRPr lang="ru-RU" sz="2200" spc="-1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  <a:p>
            <a:pPr marL="297815" marR="5080" indent="-285750">
              <a:buFont typeface="Arial MT"/>
              <a:buChar char="•"/>
              <a:tabLst>
                <a:tab pos="297815" algn="l"/>
              </a:tabLst>
            </a:pPr>
            <a:r>
              <a:rPr lang="ru-RU"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Верифицированное</a:t>
            </a:r>
            <a:r>
              <a:rPr sz="22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open-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source</a:t>
            </a:r>
            <a:r>
              <a:rPr sz="22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ядро</a:t>
            </a:r>
            <a:r>
              <a:rPr lang="ru-RU"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процессора</a:t>
            </a:r>
            <a:r>
              <a:rPr sz="22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en-US" sz="2200" spc="-3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bi</a:t>
            </a:r>
            <a:r>
              <a:rPr sz="2200" spc="-2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</a:t>
            </a:r>
            <a:r>
              <a:rPr sz="22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-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r>
              <a:rPr sz="22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</a:t>
            </a:r>
            <a:r>
              <a:rPr sz="2200" spc="-2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возможностью</a:t>
            </a:r>
            <a:r>
              <a:rPr sz="2200" spc="-4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его</a:t>
            </a:r>
            <a:r>
              <a:rPr sz="2200" spc="-1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развертывания</a:t>
            </a:r>
            <a:r>
              <a:rPr sz="2200" spc="-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 err="1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</a:t>
            </a:r>
            <a:r>
              <a:rPr sz="22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ПЛИС</a:t>
            </a:r>
            <a:endParaRPr lang="ru-RU" sz="2200" spc="-2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A8C101D0-1B97-17AD-B556-3AAD88364ACD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0" name="Google Shape;191;p3">
            <a:extLst>
              <a:ext uri="{FF2B5EF4-FFF2-40B4-BE49-F238E27FC236}">
                <a16:creationId xmlns:a16="http://schemas.microsoft.com/office/drawing/2014/main" id="{0C1630C0-0AB2-7B85-71A5-4DFA90A0B4E5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1" name="Google Shape;193;p3">
            <a:extLst>
              <a:ext uri="{FF2B5EF4-FFF2-40B4-BE49-F238E27FC236}">
                <a16:creationId xmlns:a16="http://schemas.microsoft.com/office/drawing/2014/main" id="{0DE479A9-2B99-5CD1-98F8-F238A8CE607D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2844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10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4503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4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3020" y="1415408"/>
            <a:ext cx="9531350" cy="3416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Практическое</a:t>
            </a:r>
            <a:r>
              <a:rPr sz="2400" b="1" spc="-95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применение</a:t>
            </a:r>
            <a:endParaRPr sz="2400" dirty="0">
              <a:latin typeface="HSE Sans" panose="02000000000000000000" pitchFamily="50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400" dirty="0">
              <a:latin typeface="HSE Sans" panose="02000000000000000000" pitchFamily="50" charset="0"/>
              <a:cs typeface="Calibri"/>
            </a:endParaRPr>
          </a:p>
          <a:p>
            <a:pPr marL="297815" marR="962660" indent="-285750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Лабораторные</a:t>
            </a:r>
            <a:r>
              <a:rPr sz="2200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работы</a:t>
            </a:r>
            <a:r>
              <a:rPr sz="22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для</a:t>
            </a:r>
            <a:r>
              <a:rPr sz="2200" spc="-7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дисциплины</a:t>
            </a:r>
            <a:r>
              <a:rPr sz="2200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«Системное</a:t>
            </a:r>
            <a:r>
              <a:rPr sz="2200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проектирование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цифровых</a:t>
            </a:r>
            <a:r>
              <a:rPr sz="2200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устройств»</a:t>
            </a:r>
            <a:r>
              <a:rPr sz="2200" spc="-6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(Департамент</a:t>
            </a:r>
            <a:r>
              <a:rPr sz="2200" spc="-7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электронной</a:t>
            </a:r>
            <a:r>
              <a:rPr sz="2200" spc="-7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инженерии)</a:t>
            </a:r>
            <a:endParaRPr sz="2200" dirty="0">
              <a:latin typeface="HSE Sans" panose="02000000000000000000" pitchFamily="50" charset="0"/>
              <a:cs typeface="Calibri"/>
            </a:endParaRPr>
          </a:p>
          <a:p>
            <a:pPr marL="297815" marR="5080" indent="-285750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97815" algn="l"/>
              </a:tabLst>
            </a:pP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Лабораторные</a:t>
            </a:r>
            <a:r>
              <a:rPr sz="22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работы</a:t>
            </a:r>
            <a:r>
              <a:rPr sz="22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для</a:t>
            </a:r>
            <a:r>
              <a:rPr sz="22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дисциплин</a:t>
            </a:r>
            <a:r>
              <a:rPr sz="2200" spc="43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«Цифровая</a:t>
            </a:r>
            <a:r>
              <a:rPr sz="2200" spc="-5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схемотехника</a:t>
            </a:r>
            <a:r>
              <a:rPr sz="22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и</a:t>
            </a:r>
            <a:r>
              <a:rPr sz="22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системная архитектура»,</a:t>
            </a:r>
            <a:r>
              <a:rPr sz="22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«Системное</a:t>
            </a:r>
            <a:r>
              <a:rPr sz="2200" spc="-8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программирование»</a:t>
            </a:r>
            <a:r>
              <a:rPr sz="2200" spc="-9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(Департамент</a:t>
            </a:r>
            <a:r>
              <a:rPr sz="2200" spc="-8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электронной инженерии)</a:t>
            </a:r>
            <a:endParaRPr sz="2200" dirty="0">
              <a:latin typeface="HSE Sans" panose="02000000000000000000" pitchFamily="50" charset="0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97815" algn="l"/>
              </a:tabLst>
            </a:pP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Учебный</a:t>
            </a:r>
            <a:r>
              <a:rPr sz="22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курс</a:t>
            </a:r>
            <a:r>
              <a:rPr sz="22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sz="2200" spc="-3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sz="2200" spc="-6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для</a:t>
            </a:r>
            <a:r>
              <a:rPr sz="22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компании</a:t>
            </a:r>
            <a:r>
              <a:rPr sz="2200" spc="-4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sz="22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Yadro</a:t>
            </a:r>
            <a:endParaRPr sz="2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41809852-5501-2BFC-F8A3-DAEA3ED49C9A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0" name="Google Shape;191;p3">
            <a:extLst>
              <a:ext uri="{FF2B5EF4-FFF2-40B4-BE49-F238E27FC236}">
                <a16:creationId xmlns:a16="http://schemas.microsoft.com/office/drawing/2014/main" id="{299827D3-AFA5-B56C-73C8-8C0C14F34362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1" name="Google Shape;193;p3">
            <a:extLst>
              <a:ext uri="{FF2B5EF4-FFF2-40B4-BE49-F238E27FC236}">
                <a16:creationId xmlns:a16="http://schemas.microsoft.com/office/drawing/2014/main" id="{848ECD8F-F32F-E4DF-993E-41FC18B7BEA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F2C6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1139" y="2644140"/>
            <a:ext cx="1569720" cy="1569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2844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10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4503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4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3400" y="1219200"/>
            <a:ext cx="9531350" cy="1949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Участник: </a:t>
            </a:r>
            <a:r>
              <a:rPr lang="ru-RU" sz="2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Добротин Арсений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Выполненные задачи:</a:t>
            </a:r>
            <a:endParaRPr sz="2400" dirty="0">
              <a:latin typeface="HSE Sans" panose="02000000000000000000" pitchFamily="50" charset="0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1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Разработка и верификация 4-битного АЛУ 74382 (ЛР 1)</a:t>
            </a:r>
          </a:p>
          <a:p>
            <a:pPr marL="342900" indent="-342900">
              <a:lnSpc>
                <a:spcPct val="100000"/>
              </a:lnSpc>
              <a:spcBef>
                <a:spcPts val="31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Разработка и верификация 16-битного АЛУ с помощью каскадирования АЛУ 74382 (ЛР 1)</a:t>
            </a:r>
          </a:p>
        </p:txBody>
      </p:sp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41809852-5501-2BFC-F8A3-DAEA3ED49C9A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0" name="Google Shape;191;p3">
            <a:extLst>
              <a:ext uri="{FF2B5EF4-FFF2-40B4-BE49-F238E27FC236}">
                <a16:creationId xmlns:a16="http://schemas.microsoft.com/office/drawing/2014/main" id="{299827D3-AFA5-B56C-73C8-8C0C14F34362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1" name="Google Shape;193;p3">
            <a:extLst>
              <a:ext uri="{FF2B5EF4-FFF2-40B4-BE49-F238E27FC236}">
                <a16:creationId xmlns:a16="http://schemas.microsoft.com/office/drawing/2014/main" id="{848ECD8F-F32F-E4DF-993E-41FC18B7BEA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FF983A3-645A-BD2C-CDDB-A09F7EC4C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276600"/>
            <a:ext cx="3448329" cy="2864766"/>
          </a:xfrm>
          <a:prstGeom prst="rect">
            <a:avLst/>
          </a:prstGeom>
          <a:ln>
            <a:solidFill>
              <a:srgbClr val="0F2C68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7E779F-B943-20E7-AF19-BB48E5FA4E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9" t="4885"/>
          <a:stretch/>
        </p:blipFill>
        <p:spPr>
          <a:xfrm>
            <a:off x="4800600" y="3509995"/>
            <a:ext cx="3670182" cy="2105614"/>
          </a:xfrm>
          <a:prstGeom prst="rect">
            <a:avLst/>
          </a:prstGeom>
          <a:ln>
            <a:solidFill>
              <a:srgbClr val="0F2C68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4B4ECF4-52E0-9F4C-386B-0973C8E3A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910" y="1280241"/>
            <a:ext cx="3074947" cy="4846334"/>
          </a:xfrm>
          <a:prstGeom prst="rect">
            <a:avLst/>
          </a:prstGeom>
          <a:ln>
            <a:solidFill>
              <a:srgbClr val="0F2C68"/>
            </a:solidFill>
          </a:ln>
        </p:spPr>
      </p:pic>
      <p:sp>
        <p:nvSpPr>
          <p:cNvPr id="16" name="object 6">
            <a:extLst>
              <a:ext uri="{FF2B5EF4-FFF2-40B4-BE49-F238E27FC236}">
                <a16:creationId xmlns:a16="http://schemas.microsoft.com/office/drawing/2014/main" id="{738DF9AB-C9DD-B53C-B3A3-8499BECC67C8}"/>
              </a:ext>
            </a:extLst>
          </p:cNvPr>
          <p:cNvSpPr txBox="1"/>
          <p:nvPr/>
        </p:nvSpPr>
        <p:spPr>
          <a:xfrm>
            <a:off x="1190764" y="6167870"/>
            <a:ext cx="30479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Файловая структура верификационного окружения для АЛУ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CCEA9B82-C2A0-546C-FABD-AD48B37E5248}"/>
              </a:ext>
            </a:extLst>
          </p:cNvPr>
          <p:cNvSpPr txBox="1"/>
          <p:nvPr/>
        </p:nvSpPr>
        <p:spPr>
          <a:xfrm>
            <a:off x="5111691" y="5744419"/>
            <a:ext cx="304799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Файловая структура </a:t>
            </a:r>
            <a:r>
              <a:rPr lang="en-US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описания АЛУ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340A227C-6A77-9C40-DA46-30575CF23F77}"/>
              </a:ext>
            </a:extLst>
          </p:cNvPr>
          <p:cNvSpPr txBox="1"/>
          <p:nvPr/>
        </p:nvSpPr>
        <p:spPr>
          <a:xfrm>
            <a:off x="8873420" y="6187616"/>
            <a:ext cx="304799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Часть </a:t>
            </a:r>
            <a:r>
              <a:rPr lang="en-US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кода АЛУ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1733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2844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10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4503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4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3400" y="1219200"/>
            <a:ext cx="6705600" cy="2318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Участник: </a:t>
            </a:r>
            <a:r>
              <a:rPr lang="ru-RU" sz="2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Добротин Арсений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Выполненные задачи:</a:t>
            </a:r>
            <a:endParaRPr sz="2400" dirty="0">
              <a:latin typeface="HSE Sans" panose="02000000000000000000" pitchFamily="50" charset="0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1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Разработка и верификация APB  обёрток для таймеров EF_TCC32 и RTC (ЛР 2)</a:t>
            </a:r>
          </a:p>
          <a:p>
            <a:pPr marL="342900" indent="-342900">
              <a:lnSpc>
                <a:spcPct val="100000"/>
              </a:lnSpc>
              <a:spcBef>
                <a:spcPts val="31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Разработка и верификация общего модуля периферии с интерфейсом APB (ЛР 2)</a:t>
            </a:r>
          </a:p>
        </p:txBody>
      </p:sp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41809852-5501-2BFC-F8A3-DAEA3ED49C9A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0" name="Google Shape;191;p3">
            <a:extLst>
              <a:ext uri="{FF2B5EF4-FFF2-40B4-BE49-F238E27FC236}">
                <a16:creationId xmlns:a16="http://schemas.microsoft.com/office/drawing/2014/main" id="{299827D3-AFA5-B56C-73C8-8C0C14F34362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1" name="Google Shape;193;p3">
            <a:extLst>
              <a:ext uri="{FF2B5EF4-FFF2-40B4-BE49-F238E27FC236}">
                <a16:creationId xmlns:a16="http://schemas.microsoft.com/office/drawing/2014/main" id="{848ECD8F-F32F-E4DF-993E-41FC18B7BEA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6C1F6B-DB1F-2045-8609-BB8A48912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245" b="38881"/>
          <a:stretch/>
        </p:blipFill>
        <p:spPr>
          <a:xfrm>
            <a:off x="609600" y="3657600"/>
            <a:ext cx="2145374" cy="2455556"/>
          </a:xfrm>
          <a:prstGeom prst="rect">
            <a:avLst/>
          </a:prstGeom>
          <a:ln>
            <a:solidFill>
              <a:srgbClr val="0F2C68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1919E55-0F2B-5755-B5A6-2E1C1733D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35" y="1219200"/>
            <a:ext cx="3763367" cy="4819942"/>
          </a:xfrm>
          <a:prstGeom prst="rect">
            <a:avLst/>
          </a:prstGeom>
          <a:ln>
            <a:solidFill>
              <a:srgbClr val="0F2C68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4D221E6-0232-CE8F-3351-1610EFC80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944" y="4114800"/>
            <a:ext cx="4612346" cy="1356121"/>
          </a:xfrm>
          <a:prstGeom prst="rect">
            <a:avLst/>
          </a:prstGeom>
          <a:ln>
            <a:solidFill>
              <a:srgbClr val="0F2C68"/>
            </a:solidFill>
          </a:ln>
        </p:spPr>
      </p:pic>
      <p:sp>
        <p:nvSpPr>
          <p:cNvPr id="16" name="object 6">
            <a:extLst>
              <a:ext uri="{FF2B5EF4-FFF2-40B4-BE49-F238E27FC236}">
                <a16:creationId xmlns:a16="http://schemas.microsoft.com/office/drawing/2014/main" id="{208A7F58-B166-3B96-A1C6-BD80E89B25E8}"/>
              </a:ext>
            </a:extLst>
          </p:cNvPr>
          <p:cNvSpPr txBox="1"/>
          <p:nvPr/>
        </p:nvSpPr>
        <p:spPr>
          <a:xfrm>
            <a:off x="779679" y="6189964"/>
            <a:ext cx="19694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Часть </a:t>
            </a:r>
            <a:r>
              <a:rPr lang="en-US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RTL </a:t>
            </a: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кода модуля периферии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D312D424-F80C-C46B-545F-0AECB9CD1AA5}"/>
              </a:ext>
            </a:extLst>
          </p:cNvPr>
          <p:cNvSpPr txBox="1"/>
          <p:nvPr/>
        </p:nvSpPr>
        <p:spPr>
          <a:xfrm>
            <a:off x="4257117" y="5638800"/>
            <a:ext cx="2286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Вывод теста на </a:t>
            </a:r>
            <a:r>
              <a:rPr lang="en-US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RTC</a:t>
            </a: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таймер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D8943F4A-EF5B-4824-0728-DC84D4FE0F2F}"/>
              </a:ext>
            </a:extLst>
          </p:cNvPr>
          <p:cNvSpPr txBox="1"/>
          <p:nvPr/>
        </p:nvSpPr>
        <p:spPr>
          <a:xfrm>
            <a:off x="8719518" y="6107784"/>
            <a:ext cx="2286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Вывод теста периферии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195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97420" y="506023"/>
            <a:ext cx="2844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000" spc="-50" dirty="0">
                <a:solidFill>
                  <a:srgbClr val="102C69"/>
                </a:solidFill>
                <a:latin typeface="HSE Sans" panose="02000000000000000000" pitchFamily="50" charset="0"/>
                <a:cs typeface="Calibri"/>
              </a:rPr>
              <a:t>10</a:t>
            </a:r>
            <a:endParaRPr sz="2000" dirty="0"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644503" y="464438"/>
            <a:ext cx="635" cy="587375"/>
          </a:xfrm>
          <a:custGeom>
            <a:avLst/>
            <a:gdLst/>
            <a:ahLst/>
            <a:cxnLst/>
            <a:rect l="l" t="t" r="r" b="b"/>
            <a:pathLst>
              <a:path w="634" h="587375">
                <a:moveTo>
                  <a:pt x="0" y="0"/>
                </a:moveTo>
                <a:lnTo>
                  <a:pt x="355" y="586803"/>
                </a:lnTo>
              </a:path>
            </a:pathLst>
          </a:custGeom>
          <a:ln w="12700">
            <a:solidFill>
              <a:srgbClr val="102C6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3400" y="1219200"/>
            <a:ext cx="10972800" cy="1949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Участник: </a:t>
            </a:r>
            <a:r>
              <a:rPr lang="ru-RU" sz="2400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Добротин Арсений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400" b="1" spc="-1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Выполненные задачи:</a:t>
            </a:r>
            <a:endParaRPr sz="2400" dirty="0">
              <a:latin typeface="HSE Sans" panose="02000000000000000000" pitchFamily="50" charset="0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1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Интеграция модуля периферии с интерфейсом AXI-Lite в дизайн процессора BIRISC-V (ЛР 3)</a:t>
            </a:r>
          </a:p>
          <a:p>
            <a:pPr marL="342900" indent="-342900">
              <a:lnSpc>
                <a:spcPct val="100000"/>
              </a:lnSpc>
              <a:spcBef>
                <a:spcPts val="31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F2C68"/>
                </a:solidFill>
                <a:latin typeface="HSE Sans" panose="02000000000000000000" pitchFamily="50" charset="0"/>
                <a:cs typeface="Calibri"/>
              </a:rPr>
              <a:t>Подготовка описания модулей RTC и периферии для документации проекта</a:t>
            </a:r>
          </a:p>
        </p:txBody>
      </p:sp>
      <p:sp>
        <p:nvSpPr>
          <p:cNvPr id="9" name="Google Shape;190;p3">
            <a:extLst>
              <a:ext uri="{FF2B5EF4-FFF2-40B4-BE49-F238E27FC236}">
                <a16:creationId xmlns:a16="http://schemas.microsoft.com/office/drawing/2014/main" id="{41809852-5501-2BFC-F8A3-DAEA3ED49C9A}"/>
              </a:ext>
            </a:extLst>
          </p:cNvPr>
          <p:cNvSpPr txBox="1">
            <a:spLocks/>
          </p:cNvSpPr>
          <p:nvPr/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Национальный исследовательский университет </a:t>
            </a:r>
            <a:b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</a:b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"Высшая школа экономики"</a:t>
            </a:r>
          </a:p>
        </p:txBody>
      </p:sp>
      <p:sp>
        <p:nvSpPr>
          <p:cNvPr id="10" name="Google Shape;191;p3">
            <a:extLst>
              <a:ext uri="{FF2B5EF4-FFF2-40B4-BE49-F238E27FC236}">
                <a16:creationId xmlns:a16="http://schemas.microsoft.com/office/drawing/2014/main" id="{299827D3-AFA5-B56C-73C8-8C0C14F34362}"/>
              </a:ext>
            </a:extLst>
          </p:cNvPr>
          <p:cNvSpPr txBox="1">
            <a:spLocks/>
          </p:cNvSpPr>
          <p:nvPr/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chemeClr val="dk1"/>
              </a:buClr>
              <a:buSzPts val="1000"/>
              <a:buFont typeface="Arial"/>
              <a:buNone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Московский институт электроники и математики им. А.Н Тихонова</a:t>
            </a:r>
          </a:p>
          <a:p>
            <a:pPr algn="l" rtl="0">
              <a:buClr>
                <a:srgbClr val="0E2D69"/>
              </a:buClr>
              <a:buSzPts val="1000"/>
            </a:pPr>
            <a:endParaRPr lang="ru-RU" sz="800" dirty="0">
              <a:latin typeface="HSE Sans" panose="02000000000000000000" pitchFamily="50" charset="0"/>
            </a:endParaRPr>
          </a:p>
        </p:txBody>
      </p:sp>
      <p:sp>
        <p:nvSpPr>
          <p:cNvPr id="11" name="Google Shape;193;p3">
            <a:extLst>
              <a:ext uri="{FF2B5EF4-FFF2-40B4-BE49-F238E27FC236}">
                <a16:creationId xmlns:a16="http://schemas.microsoft.com/office/drawing/2014/main" id="{848ECD8F-F32F-E4DF-993E-41FC18B7BEA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>
              <a:buClr>
                <a:srgbClr val="0E2D69"/>
              </a:buClr>
              <a:buSzPts val="1000"/>
            </a:pP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Разработка</a:t>
            </a:r>
            <a:r>
              <a:rPr lang="ru-RU" sz="800" spc="-2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лабораторного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практикума</a:t>
            </a:r>
            <a:r>
              <a:rPr lang="ru-RU" sz="800" spc="-12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по</a:t>
            </a:r>
            <a:r>
              <a:rPr lang="ru-RU" sz="800" spc="-105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верификации</a:t>
            </a:r>
            <a:r>
              <a:rPr lang="ru-RU" sz="800" spc="-9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 </a:t>
            </a:r>
            <a:r>
              <a:rPr lang="ru-RU" sz="800" spc="-1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RISC-</a:t>
            </a:r>
            <a:r>
              <a:rPr lang="ru-RU" sz="800" spc="-5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V</a:t>
            </a:r>
            <a:endParaRPr lang="ru-RU" sz="800" dirty="0">
              <a:solidFill>
                <a:srgbClr val="0E2C69"/>
              </a:solidFill>
              <a:latin typeface="HSE Sans" panose="02000000000000000000" pitchFamily="50" charset="0"/>
              <a:cs typeface="Calibri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E6260018-508A-BA2E-A6C3-95C3BD072F6A}"/>
              </a:ext>
            </a:extLst>
          </p:cNvPr>
          <p:cNvSpPr txBox="1"/>
          <p:nvPr/>
        </p:nvSpPr>
        <p:spPr>
          <a:xfrm>
            <a:off x="1109887" y="6126018"/>
            <a:ext cx="196942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Часть кода подключения периферии к процессору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0AC27D7-2BFB-CD1D-03DB-C9D5ED37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8" y="3425687"/>
            <a:ext cx="3145225" cy="2613840"/>
          </a:xfrm>
          <a:prstGeom prst="rect">
            <a:avLst/>
          </a:prstGeom>
          <a:ln>
            <a:solidFill>
              <a:srgbClr val="0F2C68"/>
            </a:solidFill>
          </a:ln>
        </p:spPr>
      </p:pic>
      <p:pic>
        <p:nvPicPr>
          <p:cNvPr id="16" name="Рисунок 15" descr="Изображение выглядит как снимок экрана, линия, Красочность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AE026834-DF73-5BE3-0E78-2265AA1C0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689549"/>
            <a:ext cx="8209289" cy="2060713"/>
          </a:xfrm>
          <a:prstGeom prst="rect">
            <a:avLst/>
          </a:prstGeom>
          <a:ln>
            <a:solidFill>
              <a:srgbClr val="0F2C68"/>
            </a:solidFill>
          </a:ln>
        </p:spPr>
      </p:pic>
      <p:sp>
        <p:nvSpPr>
          <p:cNvPr id="17" name="object 6">
            <a:extLst>
              <a:ext uri="{FF2B5EF4-FFF2-40B4-BE49-F238E27FC236}">
                <a16:creationId xmlns:a16="http://schemas.microsoft.com/office/drawing/2014/main" id="{B7C92BE9-DEB5-63E4-DCAE-2A0B89550094}"/>
              </a:ext>
            </a:extLst>
          </p:cNvPr>
          <p:cNvSpPr txBox="1"/>
          <p:nvPr/>
        </p:nvSpPr>
        <p:spPr>
          <a:xfrm>
            <a:off x="4876800" y="5848449"/>
            <a:ext cx="5791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173355" algn="ctr">
              <a:spcBef>
                <a:spcPts val="1025"/>
              </a:spcBef>
              <a:tabLst>
                <a:tab pos="297815" algn="l"/>
              </a:tabLst>
            </a:pP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Временная диаграмма симулятора с демонстрацией транзакции чтения процессором из периферии (</a:t>
            </a:r>
            <a:r>
              <a:rPr lang="en-US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RTC </a:t>
            </a:r>
            <a:r>
              <a:rPr lang="ru-RU" sz="1200" dirty="0">
                <a:solidFill>
                  <a:srgbClr val="0E2C69"/>
                </a:solidFill>
                <a:latin typeface="HSE Sans" panose="02000000000000000000" pitchFamily="50" charset="0"/>
                <a:cs typeface="Calibri"/>
              </a:rPr>
              <a:t>таймера)</a:t>
            </a:r>
            <a:endParaRPr sz="1200" dirty="0">
              <a:latin typeface="HSE Sans" panose="02000000000000000000" pitchFamily="50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5617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</TotalTime>
  <Words>1319</Words>
  <Application>Microsoft Office PowerPoint</Application>
  <PresentationFormat>Широкоэкранный</PresentationFormat>
  <Paragraphs>162</Paragraphs>
  <Slides>15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Arial MT</vt:lpstr>
      <vt:lpstr>HSE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Арсений Добротин</cp:lastModifiedBy>
  <cp:revision>133</cp:revision>
  <dcterms:created xsi:type="dcterms:W3CDTF">2025-05-08T09:08:24Z</dcterms:created>
  <dcterms:modified xsi:type="dcterms:W3CDTF">2025-05-18T20:15:09Z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  <property fmtid="{D5CDD505-2E9C-101B-9397-08002B2CF9AE}" pid="3" name="Created">
    <vt:filetime>2024-11-12T00:00:00Z</vt:filetime>
  </property>
  <property fmtid="{D5CDD505-2E9C-101B-9397-08002B2CF9AE}" pid="4" name="Creator">
    <vt:lpwstr>Acrobat PDFMaker 22 для PowerPoint</vt:lpwstr>
  </property>
  <property fmtid="{D5CDD505-2E9C-101B-9397-08002B2CF9AE}" pid="5" name="LastSaved">
    <vt:filetime>2025-05-08T00:00:00Z</vt:filetime>
  </property>
  <property fmtid="{D5CDD505-2E9C-101B-9397-08002B2CF9AE}" pid="6" name="PresentationFormat">
    <vt:lpwstr>Широкоэкранный</vt:lpwstr>
  </property>
  <property fmtid="{D5CDD505-2E9C-101B-9397-08002B2CF9AE}" pid="7" name="Producer">
    <vt:lpwstr>Adobe PDF Library 22.1.117</vt:lpwstr>
  </property>
  <property fmtid="{D5CDD505-2E9C-101B-9397-08002B2CF9AE}" pid="8" name="Slides">
    <vt:lpwstr>7</vt:lpwstr>
  </property>
</Properties>
</file>